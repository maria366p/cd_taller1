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4"/>
  </p:notesMasterIdLst>
  <p:sldIdLst>
    <p:sldId id="26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</p:sldIdLst>
  <p:sldSz cx="9144000" cy="5143500" type="screen16x9"/>
  <p:notesSz cx="6858000" cy="9144000"/>
  <p:embeddedFontLst>
    <p:embeddedFont>
      <p:font typeface="Nunito Light" pitchFamily="2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Proxima Nova" panose="020B0604020202020204" charset="0"/>
      <p:regular r:id="rId20"/>
      <p:bold r:id="rId21"/>
      <p:italic r:id="rId22"/>
      <p:boldItalic r:id="rId23"/>
    </p:embeddedFont>
    <p:embeddedFont>
      <p:font typeface="Proxima Nova Semibold" panose="020B0604020202020204" charset="0"/>
      <p:regular r:id="rId24"/>
      <p:bold r:id="rId25"/>
      <p:boldItalic r:id="rId26"/>
    </p:embeddedFont>
    <p:embeddedFont>
      <p:font typeface="PT Sans" panose="020B0503020203020204" pitchFamily="3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  <p:bold r:id="rId32"/>
      <p:italic r:id="rId33"/>
      <p:boldItalic r:id="rId34"/>
    </p:embeddedFont>
    <p:embeddedFont>
      <p:font typeface="Raleway ExtraBold" pitchFamily="2" charset="0"/>
      <p:bold r:id="rId35"/>
      <p:boldItalic r:id="rId36"/>
    </p:embeddedFont>
    <p:embeddedFont>
      <p:font typeface="Raleway Medium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697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CB0273-B363-43AD-85B2-C2EBE6AB6D84}">
  <a:tblStyle styleId="{5FCB0273-B363-43AD-85B2-C2EBE6AB6D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830087-1955-4C26-8426-4E54B345FEB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044" autoAdjust="0"/>
  </p:normalViewPr>
  <p:slideViewPr>
    <p:cSldViewPr snapToGrid="0">
      <p:cViewPr varScale="1">
        <p:scale>
          <a:sx n="61" d="100"/>
          <a:sy n="61" d="100"/>
        </p:scale>
        <p:origin x="1440" y="44"/>
      </p:cViewPr>
      <p:guideLst>
        <p:guide pos="5697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897050"/>
            <a:ext cx="6651600" cy="1562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33324" y="3906950"/>
            <a:ext cx="6065400" cy="414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858075" y="1948525"/>
            <a:ext cx="3918900" cy="19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4963434" y="924863"/>
            <a:ext cx="954000" cy="954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>
            <a:spLocks noGrp="1"/>
          </p:cNvSpPr>
          <p:nvPr>
            <p:ph type="pic" idx="3"/>
          </p:nvPr>
        </p:nvSpPr>
        <p:spPr>
          <a:xfrm>
            <a:off x="1322338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5" name="Google Shape;15;p3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16" name="Google Shape;16;p3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1350150"/>
            <a:ext cx="2776200" cy="11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25" y="2469150"/>
            <a:ext cx="2776200" cy="13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628225" y="3279925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1628225" y="1845299"/>
            <a:ext cx="6267600" cy="7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628225" y="1588175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1628225" y="3022850"/>
            <a:ext cx="6267600" cy="35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2" name="Google Shape;32;p5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33" name="Google Shape;33;p5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" name="Google Shape;36;p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6"/>
          <p:cNvGrpSpPr/>
          <p:nvPr/>
        </p:nvGrpSpPr>
        <p:grpSpPr>
          <a:xfrm>
            <a:off x="0" y="3429300"/>
            <a:ext cx="9141475" cy="1714200"/>
            <a:chOff x="0" y="3429300"/>
            <a:chExt cx="9141475" cy="1714200"/>
          </a:xfrm>
        </p:grpSpPr>
        <p:sp>
          <p:nvSpPr>
            <p:cNvPr id="40" name="Google Shape;40;p6"/>
            <p:cNvSpPr/>
            <p:nvPr/>
          </p:nvSpPr>
          <p:spPr>
            <a:xfrm rot="10800000" flipH="1">
              <a:off x="0" y="4286400"/>
              <a:ext cx="7107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rot="10800000" flipH="1">
              <a:off x="0" y="34293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10800000" flipH="1">
              <a:off x="8430775" y="4286400"/>
              <a:ext cx="710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8430775" y="4125900"/>
              <a:ext cx="710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4" name="Google Shape;44;p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13225" y="845825"/>
            <a:ext cx="4294800" cy="123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9" name="Google Shape;49;p7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50" name="Google Shape;50;p7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57" name="Google Shape;57;p8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58" name="Google Shape;58;p8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61" name="Google Shape;61;p8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67" name="Google Shape;67;p9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0" name="Google Shape;70;p9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 hasCustomPrompt="1"/>
          </p:nvPr>
        </p:nvSpPr>
        <p:spPr>
          <a:xfrm>
            <a:off x="2617600" y="2118550"/>
            <a:ext cx="3908700" cy="101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1"/>
          </p:nvPr>
        </p:nvSpPr>
        <p:spPr>
          <a:xfrm>
            <a:off x="2817525" y="3212000"/>
            <a:ext cx="3509100" cy="417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3" hasCustomPrompt="1"/>
          </p:nvPr>
        </p:nvSpPr>
        <p:spPr>
          <a:xfrm>
            <a:off x="4572000" y="1615673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5" hasCustomPrompt="1"/>
          </p:nvPr>
        </p:nvSpPr>
        <p:spPr>
          <a:xfrm>
            <a:off x="4572000" y="2706036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4572000" y="3796398"/>
            <a:ext cx="734700" cy="731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607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1607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9"/>
          </p:nvPr>
        </p:nvSpPr>
        <p:spPr>
          <a:xfrm>
            <a:off x="1607100" y="3943098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3"/>
          </p:nvPr>
        </p:nvSpPr>
        <p:spPr>
          <a:xfrm>
            <a:off x="5459100" y="1762373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4"/>
          </p:nvPr>
        </p:nvSpPr>
        <p:spPr>
          <a:xfrm>
            <a:off x="5459100" y="2852736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5"/>
          </p:nvPr>
        </p:nvSpPr>
        <p:spPr>
          <a:xfrm>
            <a:off x="5459100" y="3943098"/>
            <a:ext cx="25320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>
            <a:off x="8424000" y="-4125"/>
            <a:ext cx="720300" cy="5143600"/>
            <a:chOff x="8424000" y="-4125"/>
            <a:chExt cx="720300" cy="5143600"/>
          </a:xfrm>
        </p:grpSpPr>
        <p:grpSp>
          <p:nvGrpSpPr>
            <p:cNvPr id="93" name="Google Shape;93;p13"/>
            <p:cNvGrpSpPr/>
            <p:nvPr/>
          </p:nvGrpSpPr>
          <p:grpSpPr>
            <a:xfrm>
              <a:off x="8584500" y="-4125"/>
              <a:ext cx="559800" cy="5143600"/>
              <a:chOff x="8584500" y="-4125"/>
              <a:chExt cx="559800" cy="5143600"/>
            </a:xfrm>
          </p:grpSpPr>
          <p:sp>
            <p:nvSpPr>
              <p:cNvPr id="94" name="Google Shape;94;p13"/>
              <p:cNvSpPr/>
              <p:nvPr/>
            </p:nvSpPr>
            <p:spPr>
              <a:xfrm>
                <a:off x="8584500" y="-4125"/>
                <a:ext cx="559800" cy="1714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8584500" y="1710575"/>
                <a:ext cx="559800" cy="1714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8584500" y="3424975"/>
                <a:ext cx="559800" cy="17145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97" name="Google Shape;97;p13"/>
            <p:cNvSpPr/>
            <p:nvPr/>
          </p:nvSpPr>
          <p:spPr>
            <a:xfrm rot="5400000">
              <a:off x="5934900" y="2489132"/>
              <a:ext cx="51387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3718663" y="959100"/>
            <a:ext cx="28725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3718675" y="2167200"/>
            <a:ext cx="4142400" cy="20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103" name="Google Shape;103;p14"/>
            <p:cNvSpPr/>
            <p:nvPr/>
          </p:nvSpPr>
          <p:spPr>
            <a:xfrm rot="10800000" flipH="1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 rot="10800000" flipH="1">
              <a:off x="843077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 rot="10800000" flipH="1"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3997325" y="1045900"/>
            <a:ext cx="4433700" cy="14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ubTitle" idx="1"/>
          </p:nvPr>
        </p:nvSpPr>
        <p:spPr>
          <a:xfrm>
            <a:off x="3997325" y="2430553"/>
            <a:ext cx="4433700" cy="14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>
            <a:spLocks noGrp="1"/>
          </p:cNvSpPr>
          <p:nvPr>
            <p:ph type="pic" idx="2"/>
          </p:nvPr>
        </p:nvSpPr>
        <p:spPr>
          <a:xfrm>
            <a:off x="713225" y="554676"/>
            <a:ext cx="2801100" cy="4049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3" name="Google Shape;113;p15"/>
          <p:cNvGrpSpPr/>
          <p:nvPr/>
        </p:nvGrpSpPr>
        <p:grpSpPr>
          <a:xfrm>
            <a:off x="0" y="0"/>
            <a:ext cx="713100" cy="5143500"/>
            <a:chOff x="0" y="0"/>
            <a:chExt cx="713100" cy="5143500"/>
          </a:xfrm>
        </p:grpSpPr>
        <p:sp>
          <p:nvSpPr>
            <p:cNvPr id="114" name="Google Shape;114;p15"/>
            <p:cNvSpPr/>
            <p:nvPr/>
          </p:nvSpPr>
          <p:spPr>
            <a:xfrm rot="10800000" flipH="1">
              <a:off x="0" y="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 rot="10800000" flipH="1">
              <a:off x="0" y="8571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7" name="Google Shape;117;p15"/>
          <p:cNvSpPr/>
          <p:nvPr/>
        </p:nvSpPr>
        <p:spPr>
          <a:xfrm rot="10800000" flipH="1">
            <a:off x="8430775" y="0"/>
            <a:ext cx="713100" cy="85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6177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BODY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713225" y="539504"/>
            <a:ext cx="419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713225" y="1237654"/>
            <a:ext cx="4195500" cy="30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22" name="Google Shape;122;p16"/>
          <p:cNvGrpSpPr/>
          <p:nvPr/>
        </p:nvGrpSpPr>
        <p:grpSpPr>
          <a:xfrm>
            <a:off x="0" y="4662000"/>
            <a:ext cx="9144000" cy="481500"/>
            <a:chOff x="0" y="4662000"/>
            <a:chExt cx="9144000" cy="4815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6" name="Google Shape;126;p1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713225" y="666225"/>
            <a:ext cx="6923100" cy="75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0" y="0"/>
            <a:ext cx="9144000" cy="481500"/>
            <a:chOff x="0" y="4662000"/>
            <a:chExt cx="9144000" cy="481500"/>
          </a:xfrm>
        </p:grpSpPr>
        <p:sp>
          <p:nvSpPr>
            <p:cNvPr id="130" name="Google Shape;130;p17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0" y="4662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33" name="Google Shape;133;p17"/>
          <p:cNvSpPr/>
          <p:nvPr/>
        </p:nvSpPr>
        <p:spPr>
          <a:xfrm>
            <a:off x="713225" y="476431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1"/>
          </p:nvPr>
        </p:nvSpPr>
        <p:spPr>
          <a:xfrm>
            <a:off x="713225" y="1558450"/>
            <a:ext cx="69519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1"/>
          </p:nvPr>
        </p:nvSpPr>
        <p:spPr>
          <a:xfrm>
            <a:off x="713225" y="2785400"/>
            <a:ext cx="2369700" cy="18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subTitle" idx="2"/>
          </p:nvPr>
        </p:nvSpPr>
        <p:spPr>
          <a:xfrm>
            <a:off x="3231361" y="2785400"/>
            <a:ext cx="2369700" cy="18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ubTitle" idx="3"/>
          </p:nvPr>
        </p:nvSpPr>
        <p:spPr>
          <a:xfrm>
            <a:off x="5749496" y="2785400"/>
            <a:ext cx="2369700" cy="18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ubTitle" idx="4"/>
          </p:nvPr>
        </p:nvSpPr>
        <p:spPr>
          <a:xfrm>
            <a:off x="713225" y="2202125"/>
            <a:ext cx="2369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subTitle" idx="5"/>
          </p:nvPr>
        </p:nvSpPr>
        <p:spPr>
          <a:xfrm>
            <a:off x="3231357" y="2202125"/>
            <a:ext cx="2369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42" name="Google Shape;142;p18"/>
          <p:cNvSpPr txBox="1">
            <a:spLocks noGrp="1"/>
          </p:cNvSpPr>
          <p:nvPr>
            <p:ph type="subTitle" idx="6"/>
          </p:nvPr>
        </p:nvSpPr>
        <p:spPr>
          <a:xfrm>
            <a:off x="5749488" y="2202125"/>
            <a:ext cx="2369700" cy="7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43" name="Google Shape;143;p18"/>
          <p:cNvGrpSpPr/>
          <p:nvPr/>
        </p:nvGrpSpPr>
        <p:grpSpPr>
          <a:xfrm>
            <a:off x="8795925" y="2411700"/>
            <a:ext cx="364500" cy="2731800"/>
            <a:chOff x="8795925" y="2411700"/>
            <a:chExt cx="364500" cy="2731800"/>
          </a:xfrm>
        </p:grpSpPr>
        <p:sp>
          <p:nvSpPr>
            <p:cNvPr id="144" name="Google Shape;144;p18"/>
            <p:cNvSpPr/>
            <p:nvPr/>
          </p:nvSpPr>
          <p:spPr>
            <a:xfrm rot="10800000" flipH="1">
              <a:off x="8795925" y="4286400"/>
              <a:ext cx="3645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5" name="Google Shape;145;p18"/>
            <p:cNvSpPr/>
            <p:nvPr/>
          </p:nvSpPr>
          <p:spPr>
            <a:xfrm rot="10800000" flipH="1">
              <a:off x="8795925" y="3429300"/>
              <a:ext cx="3645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6" name="Google Shape;146;p18"/>
            <p:cNvSpPr/>
            <p:nvPr/>
          </p:nvSpPr>
          <p:spPr>
            <a:xfrm rot="10800000" flipH="1">
              <a:off x="8795925" y="2572200"/>
              <a:ext cx="3645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8795925" y="2411700"/>
              <a:ext cx="3645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48" name="Google Shape;148;p18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subTitle" idx="1"/>
          </p:nvPr>
        </p:nvSpPr>
        <p:spPr>
          <a:xfrm>
            <a:off x="713225" y="1659425"/>
            <a:ext cx="32862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subTitle" idx="2"/>
          </p:nvPr>
        </p:nvSpPr>
        <p:spPr>
          <a:xfrm>
            <a:off x="4698825" y="1659425"/>
            <a:ext cx="32862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subTitle" idx="3"/>
          </p:nvPr>
        </p:nvSpPr>
        <p:spPr>
          <a:xfrm>
            <a:off x="713225" y="3396200"/>
            <a:ext cx="32862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subTitle" idx="4"/>
          </p:nvPr>
        </p:nvSpPr>
        <p:spPr>
          <a:xfrm>
            <a:off x="4698825" y="3396200"/>
            <a:ext cx="3286200" cy="12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subTitle" idx="5"/>
          </p:nvPr>
        </p:nvSpPr>
        <p:spPr>
          <a:xfrm>
            <a:off x="713225" y="1338475"/>
            <a:ext cx="32862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subTitle" idx="6"/>
          </p:nvPr>
        </p:nvSpPr>
        <p:spPr>
          <a:xfrm>
            <a:off x="713225" y="3075275"/>
            <a:ext cx="32862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subTitle" idx="7"/>
          </p:nvPr>
        </p:nvSpPr>
        <p:spPr>
          <a:xfrm>
            <a:off x="4698825" y="1338475"/>
            <a:ext cx="32862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subTitle" idx="8"/>
          </p:nvPr>
        </p:nvSpPr>
        <p:spPr>
          <a:xfrm>
            <a:off x="4698825" y="3075275"/>
            <a:ext cx="3286200" cy="40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59" name="Google Shape;159;p19"/>
          <p:cNvGrpSpPr/>
          <p:nvPr/>
        </p:nvGrpSpPr>
        <p:grpSpPr>
          <a:xfrm>
            <a:off x="0" y="3429300"/>
            <a:ext cx="9160425" cy="1714200"/>
            <a:chOff x="0" y="3429300"/>
            <a:chExt cx="9160425" cy="1714200"/>
          </a:xfrm>
        </p:grpSpPr>
        <p:grpSp>
          <p:nvGrpSpPr>
            <p:cNvPr id="160" name="Google Shape;160;p19"/>
            <p:cNvGrpSpPr/>
            <p:nvPr/>
          </p:nvGrpSpPr>
          <p:grpSpPr>
            <a:xfrm>
              <a:off x="8795925" y="3429300"/>
              <a:ext cx="364500" cy="1714200"/>
              <a:chOff x="8795925" y="3429300"/>
              <a:chExt cx="364500" cy="1714200"/>
            </a:xfrm>
          </p:grpSpPr>
          <p:sp>
            <p:nvSpPr>
              <p:cNvPr id="161" name="Google Shape;161;p19"/>
              <p:cNvSpPr/>
              <p:nvPr/>
            </p:nvSpPr>
            <p:spPr>
              <a:xfrm rot="10800000" flipH="1">
                <a:off x="8795925" y="4286400"/>
                <a:ext cx="364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2" name="Google Shape;162;p19"/>
              <p:cNvSpPr/>
              <p:nvPr/>
            </p:nvSpPr>
            <p:spPr>
              <a:xfrm rot="10800000" flipH="1">
                <a:off x="8795925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63" name="Google Shape;163;p19"/>
            <p:cNvGrpSpPr/>
            <p:nvPr/>
          </p:nvGrpSpPr>
          <p:grpSpPr>
            <a:xfrm>
              <a:off x="0" y="3429300"/>
              <a:ext cx="364500" cy="1714200"/>
              <a:chOff x="0" y="3429300"/>
              <a:chExt cx="364500" cy="1714200"/>
            </a:xfrm>
          </p:grpSpPr>
          <p:sp>
            <p:nvSpPr>
              <p:cNvPr id="164" name="Google Shape;164;p19"/>
              <p:cNvSpPr/>
              <p:nvPr/>
            </p:nvSpPr>
            <p:spPr>
              <a:xfrm rot="10800000" flipH="1">
                <a:off x="0" y="4286400"/>
                <a:ext cx="364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5" name="Google Shape;165;p19"/>
              <p:cNvSpPr/>
              <p:nvPr/>
            </p:nvSpPr>
            <p:spPr>
              <a:xfrm rot="10800000" flipH="1">
                <a:off x="0" y="3429300"/>
                <a:ext cx="364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166" name="Google Shape;166;p19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subTitle" idx="1"/>
          </p:nvPr>
        </p:nvSpPr>
        <p:spPr>
          <a:xfrm>
            <a:off x="713100" y="15577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ubTitle" idx="2"/>
          </p:nvPr>
        </p:nvSpPr>
        <p:spPr>
          <a:xfrm>
            <a:off x="3455250" y="15577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0"/>
          <p:cNvSpPr txBox="1">
            <a:spLocks noGrp="1"/>
          </p:cNvSpPr>
          <p:nvPr>
            <p:ph type="subTitle" idx="3"/>
          </p:nvPr>
        </p:nvSpPr>
        <p:spPr>
          <a:xfrm>
            <a:off x="713100" y="328805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subTitle" idx="4"/>
          </p:nvPr>
        </p:nvSpPr>
        <p:spPr>
          <a:xfrm>
            <a:off x="3455250" y="328805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0"/>
          <p:cNvSpPr txBox="1">
            <a:spLocks noGrp="1"/>
          </p:cNvSpPr>
          <p:nvPr>
            <p:ph type="subTitle" idx="5"/>
          </p:nvPr>
        </p:nvSpPr>
        <p:spPr>
          <a:xfrm>
            <a:off x="6197400" y="155776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0"/>
          <p:cNvSpPr txBox="1">
            <a:spLocks noGrp="1"/>
          </p:cNvSpPr>
          <p:nvPr>
            <p:ph type="subTitle" idx="6"/>
          </p:nvPr>
        </p:nvSpPr>
        <p:spPr>
          <a:xfrm>
            <a:off x="6197400" y="3288050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0"/>
          <p:cNvSpPr txBox="1">
            <a:spLocks noGrp="1"/>
          </p:cNvSpPr>
          <p:nvPr>
            <p:ph type="subTitle" idx="7"/>
          </p:nvPr>
        </p:nvSpPr>
        <p:spPr>
          <a:xfrm>
            <a:off x="713100" y="1307112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6" name="Google Shape;176;p20"/>
          <p:cNvSpPr txBox="1">
            <a:spLocks noGrp="1"/>
          </p:cNvSpPr>
          <p:nvPr>
            <p:ph type="subTitle" idx="8"/>
          </p:nvPr>
        </p:nvSpPr>
        <p:spPr>
          <a:xfrm>
            <a:off x="3457650" y="1307112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9"/>
          </p:nvPr>
        </p:nvSpPr>
        <p:spPr>
          <a:xfrm>
            <a:off x="6199800" y="1307112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3"/>
          </p:nvPr>
        </p:nvSpPr>
        <p:spPr>
          <a:xfrm>
            <a:off x="713100" y="3034188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ubTitle" idx="14"/>
          </p:nvPr>
        </p:nvSpPr>
        <p:spPr>
          <a:xfrm>
            <a:off x="3457650" y="3034193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15"/>
          </p:nvPr>
        </p:nvSpPr>
        <p:spPr>
          <a:xfrm>
            <a:off x="6199800" y="3034193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0" y="4661988"/>
            <a:ext cx="9144000" cy="481513"/>
            <a:chOff x="0" y="4661988"/>
            <a:chExt cx="9144000" cy="481513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4983000"/>
              <a:ext cx="9144000" cy="16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0" y="4822500"/>
              <a:ext cx="9144000" cy="16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0" y="4661988"/>
              <a:ext cx="9144000" cy="16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5" name="Google Shape;185;p20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>
            <a:spLocks noGrp="1"/>
          </p:cNvSpPr>
          <p:nvPr>
            <p:ph type="title" hasCustomPrompt="1"/>
          </p:nvPr>
        </p:nvSpPr>
        <p:spPr>
          <a:xfrm>
            <a:off x="3287850" y="2064188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21"/>
          <p:cNvSpPr txBox="1">
            <a:spLocks noGrp="1"/>
          </p:cNvSpPr>
          <p:nvPr>
            <p:ph type="subTitle" idx="1"/>
          </p:nvPr>
        </p:nvSpPr>
        <p:spPr>
          <a:xfrm>
            <a:off x="3287850" y="2746902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title" idx="2" hasCustomPrompt="1"/>
          </p:nvPr>
        </p:nvSpPr>
        <p:spPr>
          <a:xfrm>
            <a:off x="3287850" y="915175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3"/>
          </p:nvPr>
        </p:nvSpPr>
        <p:spPr>
          <a:xfrm>
            <a:off x="3287850" y="1597879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title" idx="4" hasCustomPrompt="1"/>
          </p:nvPr>
        </p:nvSpPr>
        <p:spPr>
          <a:xfrm>
            <a:off x="3287850" y="3213200"/>
            <a:ext cx="25683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1"/>
          <p:cNvSpPr txBox="1">
            <a:spLocks noGrp="1"/>
          </p:cNvSpPr>
          <p:nvPr>
            <p:ph type="subTitle" idx="5"/>
          </p:nvPr>
        </p:nvSpPr>
        <p:spPr>
          <a:xfrm>
            <a:off x="3287850" y="3895925"/>
            <a:ext cx="2568300" cy="33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193" name="Google Shape;193;p21"/>
          <p:cNvGrpSpPr/>
          <p:nvPr/>
        </p:nvGrpSpPr>
        <p:grpSpPr>
          <a:xfrm>
            <a:off x="3847050" y="378431"/>
            <a:ext cx="1449900" cy="4386056"/>
            <a:chOff x="3847050" y="378431"/>
            <a:chExt cx="1449900" cy="4386056"/>
          </a:xfrm>
        </p:grpSpPr>
        <p:sp>
          <p:nvSpPr>
            <p:cNvPr id="194" name="Google Shape;194;p21"/>
            <p:cNvSpPr/>
            <p:nvPr/>
          </p:nvSpPr>
          <p:spPr>
            <a:xfrm>
              <a:off x="3847050" y="378431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3847050" y="4603988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0" y="275063"/>
            <a:ext cx="9144000" cy="4868438"/>
            <a:chOff x="0" y="275063"/>
            <a:chExt cx="9144000" cy="4868438"/>
          </a:xfrm>
        </p:grpSpPr>
        <p:sp>
          <p:nvSpPr>
            <p:cNvPr id="199" name="Google Shape;199;p22"/>
            <p:cNvSpPr/>
            <p:nvPr/>
          </p:nvSpPr>
          <p:spPr>
            <a:xfrm>
              <a:off x="713225" y="275063"/>
              <a:ext cx="14499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00" name="Google Shape;200;p22"/>
            <p:cNvGrpSpPr/>
            <p:nvPr/>
          </p:nvGrpSpPr>
          <p:grpSpPr>
            <a:xfrm>
              <a:off x="0" y="4822500"/>
              <a:ext cx="9144000" cy="321000"/>
              <a:chOff x="0" y="4822500"/>
              <a:chExt cx="9144000" cy="321000"/>
            </a:xfrm>
          </p:grpSpPr>
          <p:sp>
            <p:nvSpPr>
              <p:cNvPr id="201" name="Google Shape;201;p22"/>
              <p:cNvSpPr/>
              <p:nvPr/>
            </p:nvSpPr>
            <p:spPr>
              <a:xfrm>
                <a:off x="0" y="4983000"/>
                <a:ext cx="9144000" cy="160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02" name="Google Shape;202;p22"/>
              <p:cNvSpPr/>
              <p:nvPr/>
            </p:nvSpPr>
            <p:spPr>
              <a:xfrm>
                <a:off x="0" y="4822500"/>
                <a:ext cx="9144000" cy="16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03" name="Google Shape;203;p22"/>
          <p:cNvGrpSpPr/>
          <p:nvPr/>
        </p:nvGrpSpPr>
        <p:grpSpPr>
          <a:xfrm>
            <a:off x="8430775" y="0"/>
            <a:ext cx="713318" cy="857100"/>
            <a:chOff x="8430775" y="0"/>
            <a:chExt cx="713318" cy="857100"/>
          </a:xfrm>
        </p:grpSpPr>
        <p:sp>
          <p:nvSpPr>
            <p:cNvPr id="204" name="Google Shape;204;p22"/>
            <p:cNvSpPr/>
            <p:nvPr/>
          </p:nvSpPr>
          <p:spPr>
            <a:xfrm rot="10800000" flipH="1">
              <a:off x="8787393" y="0"/>
              <a:ext cx="3567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rot="10800000" flipH="1">
              <a:off x="8430775" y="0"/>
              <a:ext cx="3567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23"/>
          <p:cNvGrpSpPr/>
          <p:nvPr/>
        </p:nvGrpSpPr>
        <p:grpSpPr>
          <a:xfrm>
            <a:off x="-100" y="3429300"/>
            <a:ext cx="1433325" cy="1714200"/>
            <a:chOff x="-100" y="3429300"/>
            <a:chExt cx="1433325" cy="1714200"/>
          </a:xfrm>
        </p:grpSpPr>
        <p:sp>
          <p:nvSpPr>
            <p:cNvPr id="209" name="Google Shape;209;p23"/>
            <p:cNvSpPr/>
            <p:nvPr/>
          </p:nvSpPr>
          <p:spPr>
            <a:xfrm>
              <a:off x="720125" y="42864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-100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-100" y="34293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12" name="Google Shape;212;p23"/>
          <p:cNvSpPr/>
          <p:nvPr/>
        </p:nvSpPr>
        <p:spPr>
          <a:xfrm>
            <a:off x="713000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5" name="Google Shape;215;p24"/>
          <p:cNvGrpSpPr/>
          <p:nvPr/>
        </p:nvGrpSpPr>
        <p:grpSpPr>
          <a:xfrm>
            <a:off x="0" y="0"/>
            <a:ext cx="9144000" cy="5160150"/>
            <a:chOff x="0" y="0"/>
            <a:chExt cx="9144000" cy="5160150"/>
          </a:xfrm>
        </p:grpSpPr>
        <p:grpSp>
          <p:nvGrpSpPr>
            <p:cNvPr id="216" name="Google Shape;216;p24"/>
            <p:cNvGrpSpPr/>
            <p:nvPr/>
          </p:nvGrpSpPr>
          <p:grpSpPr>
            <a:xfrm>
              <a:off x="0" y="3445950"/>
              <a:ext cx="568500" cy="1714200"/>
              <a:chOff x="0" y="3445950"/>
              <a:chExt cx="568500" cy="1714200"/>
            </a:xfrm>
          </p:grpSpPr>
          <p:sp>
            <p:nvSpPr>
              <p:cNvPr id="217" name="Google Shape;217;p24"/>
              <p:cNvSpPr/>
              <p:nvPr/>
            </p:nvSpPr>
            <p:spPr>
              <a:xfrm rot="10800000" flipH="1">
                <a:off x="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18" name="Google Shape;218;p24"/>
              <p:cNvSpPr/>
              <p:nvPr/>
            </p:nvSpPr>
            <p:spPr>
              <a:xfrm rot="10800000" flipH="1">
                <a:off x="0" y="344595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19" name="Google Shape;219;p24"/>
            <p:cNvGrpSpPr/>
            <p:nvPr/>
          </p:nvGrpSpPr>
          <p:grpSpPr>
            <a:xfrm>
              <a:off x="8575500" y="0"/>
              <a:ext cx="568500" cy="5160150"/>
              <a:chOff x="8575500" y="0"/>
              <a:chExt cx="568500" cy="5160150"/>
            </a:xfrm>
          </p:grpSpPr>
          <p:sp>
            <p:nvSpPr>
              <p:cNvPr id="220" name="Google Shape;220;p24"/>
              <p:cNvSpPr/>
              <p:nvPr/>
            </p:nvSpPr>
            <p:spPr>
              <a:xfrm rot="10800000" flipH="1">
                <a:off x="8575500" y="4303050"/>
                <a:ext cx="5685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1" name="Google Shape;221;p24"/>
              <p:cNvSpPr/>
              <p:nvPr/>
            </p:nvSpPr>
            <p:spPr>
              <a:xfrm rot="10800000" flipH="1">
                <a:off x="8575500" y="3445950"/>
                <a:ext cx="5685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22" name="Google Shape;222;p24"/>
              <p:cNvSpPr/>
              <p:nvPr/>
            </p:nvSpPr>
            <p:spPr>
              <a:xfrm rot="10800000" flipH="1">
                <a:off x="8575500" y="0"/>
                <a:ext cx="5685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223" name="Google Shape;223;p24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6" name="Google Shape;226;p25"/>
          <p:cNvGrpSpPr/>
          <p:nvPr/>
        </p:nvGrpSpPr>
        <p:grpSpPr>
          <a:xfrm>
            <a:off x="0" y="0"/>
            <a:ext cx="9145075" cy="5143500"/>
            <a:chOff x="0" y="0"/>
            <a:chExt cx="9145075" cy="5143500"/>
          </a:xfrm>
        </p:grpSpPr>
        <p:sp>
          <p:nvSpPr>
            <p:cNvPr id="227" name="Google Shape;227;p25"/>
            <p:cNvSpPr/>
            <p:nvPr/>
          </p:nvSpPr>
          <p:spPr>
            <a:xfrm rot="10800000" flipH="1">
              <a:off x="0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8" name="Google Shape;228;p25"/>
            <p:cNvSpPr/>
            <p:nvPr/>
          </p:nvSpPr>
          <p:spPr>
            <a:xfrm rot="10800000" flipH="1">
              <a:off x="0" y="3429300"/>
              <a:ext cx="7143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9" name="Google Shape;229;p25"/>
            <p:cNvSpPr/>
            <p:nvPr/>
          </p:nvSpPr>
          <p:spPr>
            <a:xfrm rot="10800000" flipH="1">
              <a:off x="0" y="257220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0" name="Google Shape;230;p25"/>
            <p:cNvSpPr/>
            <p:nvPr/>
          </p:nvSpPr>
          <p:spPr>
            <a:xfrm rot="10800000" flipH="1">
              <a:off x="8430775" y="0"/>
              <a:ext cx="714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1" name="Google Shape;231;p25"/>
            <p:cNvSpPr/>
            <p:nvPr/>
          </p:nvSpPr>
          <p:spPr>
            <a:xfrm rot="10800000" flipH="1">
              <a:off x="8430775" y="4286400"/>
              <a:ext cx="7143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32" name="Google Shape;232;p25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5" name="Google Shape;235;p26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36" name="Google Shape;236;p26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1" name="Google Shape;241;p26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27"/>
          <p:cNvGrpSpPr/>
          <p:nvPr/>
        </p:nvGrpSpPr>
        <p:grpSpPr>
          <a:xfrm>
            <a:off x="0" y="3275875"/>
            <a:ext cx="9144000" cy="1863925"/>
            <a:chOff x="0" y="3275875"/>
            <a:chExt cx="9144000" cy="1863925"/>
          </a:xfrm>
        </p:grpSpPr>
        <p:sp>
          <p:nvSpPr>
            <p:cNvPr id="245" name="Google Shape;245;p27"/>
            <p:cNvSpPr/>
            <p:nvPr/>
          </p:nvSpPr>
          <p:spPr>
            <a:xfrm rot="10800000" flipH="1">
              <a:off x="0" y="4282700"/>
              <a:ext cx="7083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grpSp>
          <p:nvGrpSpPr>
            <p:cNvPr id="246" name="Google Shape;246;p27"/>
            <p:cNvGrpSpPr/>
            <p:nvPr/>
          </p:nvGrpSpPr>
          <p:grpSpPr>
            <a:xfrm>
              <a:off x="8435700" y="3275875"/>
              <a:ext cx="708300" cy="1863925"/>
              <a:chOff x="8435700" y="3275875"/>
              <a:chExt cx="708300" cy="1863925"/>
            </a:xfrm>
          </p:grpSpPr>
          <p:sp>
            <p:nvSpPr>
              <p:cNvPr id="247" name="Google Shape;247;p27"/>
              <p:cNvSpPr/>
              <p:nvPr/>
            </p:nvSpPr>
            <p:spPr>
              <a:xfrm>
                <a:off x="8435700" y="3275875"/>
                <a:ext cx="708300" cy="160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 rot="10800000" flipH="1">
                <a:off x="8435700" y="4282700"/>
                <a:ext cx="708300" cy="857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rot="10800000" flipH="1">
                <a:off x="8435700" y="3436375"/>
                <a:ext cx="708300" cy="857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250" name="Google Shape;250;p27"/>
            <p:cNvSpPr/>
            <p:nvPr/>
          </p:nvSpPr>
          <p:spPr>
            <a:xfrm>
              <a:off x="0" y="4132975"/>
              <a:ext cx="7083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1" name="Google Shape;251;p27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>
            <a:spLocks noGrp="1"/>
          </p:cNvSpPr>
          <p:nvPr>
            <p:ph type="title"/>
          </p:nvPr>
        </p:nvSpPr>
        <p:spPr>
          <a:xfrm>
            <a:off x="713225" y="737850"/>
            <a:ext cx="4645200" cy="13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1"/>
          </p:nvPr>
        </p:nvSpPr>
        <p:spPr>
          <a:xfrm>
            <a:off x="713225" y="2141075"/>
            <a:ext cx="46452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5" name="Google Shape;255;p28"/>
          <p:cNvSpPr>
            <a:spLocks noGrp="1"/>
          </p:cNvSpPr>
          <p:nvPr>
            <p:ph type="pic" idx="2"/>
          </p:nvPr>
        </p:nvSpPr>
        <p:spPr>
          <a:xfrm>
            <a:off x="5479825" y="539500"/>
            <a:ext cx="29508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6" name="Google Shape;256;p28"/>
          <p:cNvGrpSpPr/>
          <p:nvPr/>
        </p:nvGrpSpPr>
        <p:grpSpPr>
          <a:xfrm>
            <a:off x="7717675" y="3429300"/>
            <a:ext cx="1426200" cy="1714200"/>
            <a:chOff x="7717675" y="3429300"/>
            <a:chExt cx="1426200" cy="1714200"/>
          </a:xfrm>
        </p:grpSpPr>
        <p:sp>
          <p:nvSpPr>
            <p:cNvPr id="257" name="Google Shape;257;p28"/>
            <p:cNvSpPr/>
            <p:nvPr/>
          </p:nvSpPr>
          <p:spPr>
            <a:xfrm>
              <a:off x="8430775" y="428640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8430775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7717675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60" name="Google Shape;260;p28"/>
          <p:cNvSpPr/>
          <p:nvPr/>
        </p:nvSpPr>
        <p:spPr>
          <a:xfrm>
            <a:off x="713225" y="539488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253750" y="769400"/>
            <a:ext cx="39558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subTitle" idx="1"/>
          </p:nvPr>
        </p:nvSpPr>
        <p:spPr>
          <a:xfrm>
            <a:off x="4253750" y="1859617"/>
            <a:ext cx="3684000" cy="12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9"/>
          <p:cNvSpPr txBox="1"/>
          <p:nvPr/>
        </p:nvSpPr>
        <p:spPr>
          <a:xfrm>
            <a:off x="4253760" y="3320333"/>
            <a:ext cx="3684000" cy="7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endParaRPr sz="1200" u="sng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335" y="2150"/>
            <a:ext cx="713300" cy="5139225"/>
            <a:chOff x="7468800" y="0"/>
            <a:chExt cx="1675200" cy="5139225"/>
          </a:xfrm>
        </p:grpSpPr>
        <p:sp>
          <p:nvSpPr>
            <p:cNvPr id="267" name="Google Shape;267;p30"/>
            <p:cNvSpPr/>
            <p:nvPr/>
          </p:nvSpPr>
          <p:spPr>
            <a:xfrm>
              <a:off x="7468800" y="3464996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>
              <a:off x="7468800" y="4282125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7468800" y="2487375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7468800" y="2647875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rot="10800000" flipH="1">
              <a:off x="7468800" y="857329"/>
              <a:ext cx="1675200" cy="816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rot="10800000" flipH="1">
              <a:off x="7468800" y="0"/>
              <a:ext cx="16752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rot="10800000" flipH="1">
              <a:off x="7468800" y="1674450"/>
              <a:ext cx="1675200" cy="816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31"/>
          <p:cNvGrpSpPr/>
          <p:nvPr/>
        </p:nvGrpSpPr>
        <p:grpSpPr>
          <a:xfrm>
            <a:off x="0" y="0"/>
            <a:ext cx="9143875" cy="5143500"/>
            <a:chOff x="0" y="0"/>
            <a:chExt cx="9143875" cy="5143500"/>
          </a:xfrm>
        </p:grpSpPr>
        <p:sp>
          <p:nvSpPr>
            <p:cNvPr id="276" name="Google Shape;276;p31"/>
            <p:cNvSpPr/>
            <p:nvPr/>
          </p:nvSpPr>
          <p:spPr>
            <a:xfrm rot="10800000" flipH="1">
              <a:off x="0" y="4286400"/>
              <a:ext cx="713100" cy="857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 rot="10800000" flipH="1">
              <a:off x="0" y="34293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 rot="10800000" flipH="1">
              <a:off x="8430775" y="0"/>
              <a:ext cx="713100" cy="857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 rot="10800000" flipH="1">
              <a:off x="8430775" y="857100"/>
              <a:ext cx="713100" cy="85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430775" y="1714200"/>
              <a:ext cx="7131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81" name="Google Shape;281;p31"/>
          <p:cNvSpPr/>
          <p:nvPr/>
        </p:nvSpPr>
        <p:spPr>
          <a:xfrm>
            <a:off x="713225" y="274663"/>
            <a:ext cx="1449900" cy="160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>
            <a:spLocks noGrp="1"/>
          </p:cNvSpPr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●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○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Medium"/>
              <a:buChar char="■"/>
              <a:defRPr sz="120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84" name="Google Shape;284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960120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spc="150">
                <a:solidFill>
                  <a:srgbClr val="7C8594"/>
                </a:solidFill>
                <a:latin typeface="Raleway Medium"/>
              </a:rPr>
              <a:t>MINE-4101 · CIENCIA DE DATOS APLICADA · TALLER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1298448"/>
            <a:ext cx="1188720" cy="548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50876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200" b="0">
                <a:solidFill>
                  <a:srgbClr val="0E1D35"/>
                </a:solidFill>
                <a:latin typeface="Raleway ExtraBold"/>
              </a:rPr>
              <a:t>Supervisión de la contratación pública de bienes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83464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2B3B5D"/>
                </a:solidFill>
                <a:latin typeface="Raleway Medium"/>
              </a:rPr>
              <a:t>Criterios de focalización para la oficina de control interno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429000"/>
            <a:ext cx="6949440" cy="4572"/>
          </a:xfrm>
          <a:prstGeom prst="rect">
            <a:avLst/>
          </a:prstGeom>
          <a:solidFill>
            <a:srgbClr val="D5D8D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5661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E1D35"/>
                </a:solidFill>
                <a:latin typeface="Raleway Medium"/>
              </a:rPr>
              <a:t>María Paula Ospina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88620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0E1D35"/>
                </a:solidFill>
                <a:latin typeface="Raleway Medium"/>
              </a:rPr>
              <a:t>Camilo Beltrán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43484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Ingeniería de Sistemas y Computación · Escuela de Posgrado · 2026-20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5"/>
          <p:cNvGrpSpPr/>
          <p:nvPr/>
        </p:nvGrpSpPr>
        <p:grpSpPr>
          <a:xfrm>
            <a:off x="9043690" y="2150"/>
            <a:ext cx="100512" cy="5139225"/>
            <a:chOff x="7468800" y="0"/>
            <a:chExt cx="1675200" cy="5139225"/>
          </a:xfrm>
        </p:grpSpPr>
        <p:grpSp>
          <p:nvGrpSpPr>
            <p:cNvPr id="293" name="Google Shape;293;p35"/>
            <p:cNvGrpSpPr/>
            <p:nvPr/>
          </p:nvGrpSpPr>
          <p:grpSpPr>
            <a:xfrm>
              <a:off x="7468800" y="0"/>
              <a:ext cx="1675200" cy="5139225"/>
              <a:chOff x="7468800" y="0"/>
              <a:chExt cx="1675200" cy="5139225"/>
            </a:xfrm>
          </p:grpSpPr>
          <p:sp>
            <p:nvSpPr>
              <p:cNvPr id="294" name="Google Shape;294;p35"/>
              <p:cNvSpPr/>
              <p:nvPr/>
            </p:nvSpPr>
            <p:spPr>
              <a:xfrm>
                <a:off x="7468800" y="3464996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5" name="Google Shape;295;p35"/>
              <p:cNvSpPr/>
              <p:nvPr/>
            </p:nvSpPr>
            <p:spPr>
              <a:xfrm>
                <a:off x="7468800" y="4282125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6" name="Google Shape;296;p35"/>
              <p:cNvSpPr/>
              <p:nvPr/>
            </p:nvSpPr>
            <p:spPr>
              <a:xfrm>
                <a:off x="7468800" y="2647875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7" name="Google Shape;297;p35"/>
              <p:cNvSpPr/>
              <p:nvPr/>
            </p:nvSpPr>
            <p:spPr>
              <a:xfrm rot="10800000" flipH="1">
                <a:off x="7468800" y="857329"/>
                <a:ext cx="1675200" cy="816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8" name="Google Shape;298;p35"/>
              <p:cNvSpPr/>
              <p:nvPr/>
            </p:nvSpPr>
            <p:spPr>
              <a:xfrm rot="10800000" flipH="1">
                <a:off x="7468800" y="0"/>
                <a:ext cx="1675200" cy="857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299" name="Google Shape;299;p35"/>
              <p:cNvSpPr/>
              <p:nvPr/>
            </p:nvSpPr>
            <p:spPr>
              <a:xfrm rot="10800000" flipH="1">
                <a:off x="7468800" y="1674450"/>
                <a:ext cx="1675200" cy="816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sp>
          <p:nvSpPr>
            <p:cNvPr id="300" name="Google Shape;300;p35"/>
            <p:cNvSpPr/>
            <p:nvPr/>
          </p:nvSpPr>
          <p:spPr>
            <a:xfrm>
              <a:off x="7468800" y="2491500"/>
              <a:ext cx="1675200" cy="160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01" name="Google Shape;301;p35"/>
          <p:cNvSpPr txBox="1">
            <a:spLocks noGrp="1"/>
          </p:cNvSpPr>
          <p:nvPr>
            <p:ph type="ctrTitle"/>
          </p:nvPr>
        </p:nvSpPr>
        <p:spPr>
          <a:xfrm>
            <a:off x="832104" y="960120"/>
            <a:ext cx="6949440" cy="1051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sz="2800"/>
              <a:t>Criterios de focalización para la supervisión contractual</a:t>
            </a:r>
          </a:p>
        </p:txBody>
      </p:sp>
      <p:sp>
        <p:nvSpPr>
          <p:cNvPr id="302" name="Google Shape;302;p35"/>
          <p:cNvSpPr txBox="1">
            <a:spLocks noGrp="1"/>
          </p:cNvSpPr>
          <p:nvPr>
            <p:ph type="subTitle" idx="1"/>
          </p:nvPr>
        </p:nvSpPr>
        <p:spPr>
          <a:xfrm>
            <a:off x="832104" y="2011680"/>
            <a:ext cx="6949440" cy="320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sz="1100">
                <a:solidFill>
                  <a:srgbClr val="2B3B5D"/>
                </a:solidFill>
              </a:rPr>
              <a:t>Propuesta basada en el análisis de 196.391 contratos de bienes de SECOP II, 2019–2025</a:t>
            </a:r>
          </a:p>
        </p:txBody>
      </p:sp>
      <p:sp>
        <p:nvSpPr>
          <p:cNvPr id="303" name="Google Shape;303;p35"/>
          <p:cNvSpPr/>
          <p:nvPr/>
        </p:nvSpPr>
        <p:spPr>
          <a:xfrm>
            <a:off x="832104" y="786384"/>
            <a:ext cx="1449900" cy="50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832104" y="47548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50">
                <a:solidFill>
                  <a:srgbClr val="7C8594"/>
                </a:solidFill>
                <a:latin typeface="Raleway Medium"/>
              </a:rPr>
              <a:t>TALLER DE AUDITORÍA Y CONTROL INTERNO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32104" y="239572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5366"/>
                </a:solidFill>
                <a:latin typeface="Open Sans"/>
              </a:rPr>
              <a:t>Ante un universo de 196.391 contratos y una capacidad limitada de supervisión, buscamos criterios basados en datos para identificar cuáles requieren un seguimiento más cercano.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832104" y="3017520"/>
            <a:ext cx="54864" cy="566928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978408" y="298094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E1D35"/>
                </a:solidFill>
                <a:latin typeface="Raleway ExtraBold"/>
              </a:rPr>
              <a:t>196.391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978408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contratos analizados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2889504" y="3017520"/>
            <a:ext cx="54864" cy="56692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0" name="TextBox 309"/>
          <p:cNvSpPr txBox="1"/>
          <p:nvPr/>
        </p:nvSpPr>
        <p:spPr>
          <a:xfrm>
            <a:off x="3035808" y="298094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E1D35"/>
                </a:solidFill>
                <a:latin typeface="Raleway ExtraBold"/>
              </a:rPr>
              <a:t>Limitada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3035808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capacidad de supervisión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946904" y="3017520"/>
            <a:ext cx="54864" cy="566928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5093208" y="298094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0E1D35"/>
                </a:solidFill>
                <a:latin typeface="Raleway ExtraBold"/>
              </a:rPr>
              <a:t>Focalizar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5093208" y="331012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criterios basados en datos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832104" y="3822191"/>
            <a:ext cx="6400800" cy="4572"/>
          </a:xfrm>
          <a:prstGeom prst="rect">
            <a:avLst/>
          </a:prstGeom>
          <a:solidFill>
            <a:srgbClr val="D5D8D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6" name="TextBox 315"/>
          <p:cNvSpPr txBox="1"/>
          <p:nvPr/>
        </p:nvSpPr>
        <p:spPr>
          <a:xfrm>
            <a:off x="832104" y="391363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0E1D35"/>
                </a:solidFill>
                <a:latin typeface="Raleway Medium"/>
              </a:rPr>
              <a:t>¿Qué características permiten identificar, desde la firma, los contratos que deberían tener una supervisión más cercana?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832104" y="46177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C8594"/>
                </a:solidFill>
                <a:latin typeface="Open Sans"/>
              </a:rPr>
              <a:t>Fuente: SECOP II, Bienes, 2019–2025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4754880" y="4617720"/>
            <a:ext cx="4023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8594"/>
                </a:solidFill>
                <a:latin typeface="Open Sans"/>
              </a:rPr>
              <a:t>María Paula Ospina · Camilo Beltrán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946136" y="4041648"/>
            <a:ext cx="548640" cy="548640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20" name="Rectangle 319"/>
          <p:cNvSpPr/>
          <p:nvPr/>
        </p:nvSpPr>
        <p:spPr>
          <a:xfrm>
            <a:off x="8494776" y="4041648"/>
            <a:ext cx="548640" cy="548640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21" name="Rectangle 320"/>
          <p:cNvSpPr/>
          <p:nvPr/>
        </p:nvSpPr>
        <p:spPr>
          <a:xfrm>
            <a:off x="8494776" y="3493008"/>
            <a:ext cx="548640" cy="548640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Las recomendaciones parten de tres señales diferentes de desviación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DISEÑO DEL ANÁLISIS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2651760" cy="1874519"/>
          </a:xfrm>
          <a:prstGeom prst="rect">
            <a:avLst/>
          </a:prstGeom>
          <a:solidFill>
            <a:srgbClr val="EFEFE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361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E1D35"/>
                </a:solidFill>
                <a:latin typeface="Raleway Medium"/>
              </a:rPr>
              <a:t>Características de los contratos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47672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E1D35"/>
                </a:solidFill>
                <a:latin typeface="Open Sans"/>
              </a:rPr>
              <a:t>Valor contractual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58568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19456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E1D35"/>
                </a:solidFill>
                <a:latin typeface="Open Sans"/>
              </a:rPr>
              <a:t>Modalidad de contratación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69464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250545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E1D35"/>
                </a:solidFill>
                <a:latin typeface="Open Sans"/>
              </a:rPr>
              <a:t>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80360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0E1D35"/>
                </a:solidFill>
                <a:latin typeface="Open Sans"/>
              </a:rPr>
              <a:t>Destino del gasto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4173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0E1D35"/>
                </a:solidFill>
                <a:latin typeface="Raleway Medium"/>
              </a:rPr>
              <a:t>Señales de desviación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783080"/>
            <a:ext cx="365760" cy="365760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Raleway Medium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764792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0E1D35"/>
                </a:solidFill>
                <a:latin typeface="Open Sans"/>
              </a:rPr>
              <a:t>Adición de plazo</a:t>
            </a:r>
            <a:r>
              <a:rPr sz="900" b="0">
                <a:solidFill>
                  <a:srgbClr val="4A5366"/>
                </a:solidFill>
                <a:latin typeface="Open Sans"/>
              </a:rPr>
              <a:t> — días adicionados mayor a 0, sobre todos los contratos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295144"/>
            <a:ext cx="365760" cy="365760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Raleway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2276856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0E1D35"/>
                </a:solidFill>
                <a:latin typeface="Open Sans"/>
              </a:rPr>
              <a:t>% pendiente de pago</a:t>
            </a:r>
            <a:r>
              <a:rPr sz="900" b="0">
                <a:solidFill>
                  <a:srgbClr val="4A5366"/>
                </a:solidFill>
                <a:latin typeface="Open Sans"/>
              </a:rPr>
              <a:t> — valor pendiente / valor contractual, solo en contratos terminados o cerrados con registros válidos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11880" y="2807208"/>
            <a:ext cx="365760" cy="365760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Raleway Medium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7889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0E1D35"/>
                </a:solidFill>
                <a:latin typeface="Open Sans"/>
              </a:rPr>
              <a:t>Finalizado sin liquidar</a:t>
            </a:r>
            <a:r>
              <a:rPr sz="900" b="0">
                <a:solidFill>
                  <a:srgbClr val="4A5366"/>
                </a:solidFill>
                <a:latin typeface="Open Sans"/>
              </a:rPr>
              <a:t> — terminados o cerrados sin liquidación registrada, sobre los 101.054 finalizados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3493008"/>
            <a:ext cx="1188720" cy="329184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lIns="36576" rIns="36576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Raleway Medium"/>
              </a:rPr>
              <a:t>Calidad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3493008"/>
            <a:ext cx="137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2B3B5D"/>
                </a:solidFill>
                <a:latin typeface="Raleway ExtraBold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39112" y="3493008"/>
            <a:ext cx="658368" cy="329184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lIns="36576" rIns="36576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Raleway Medium"/>
              </a:rPr>
              <a:t>EDA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493008"/>
            <a:ext cx="137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2B3B5D"/>
                </a:solidFill>
                <a:latin typeface="Raleway ExtraBold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493008"/>
            <a:ext cx="1828800" cy="32918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lIns="36576" rIns="36576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Raleway Medium"/>
              </a:rPr>
              <a:t>Análisis bivariado y multivariado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93008"/>
            <a:ext cx="137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2B3B5D"/>
                </a:solidFill>
                <a:latin typeface="Raleway ExtraBold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493008"/>
            <a:ext cx="1325880" cy="32918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lIns="36576" rIns="36576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Raleway Medium"/>
              </a:rPr>
              <a:t>Pruebas de hipótesis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493008"/>
            <a:ext cx="137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>
                <a:solidFill>
                  <a:srgbClr val="2B3B5D"/>
                </a:solidFill>
                <a:latin typeface="Raleway ExtraBold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493008"/>
            <a:ext cx="2103120" cy="32918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lIns="36576" rIns="36576" rtlCol="0" anchor="ctr"/>
          <a:lstStyle/>
          <a:p>
            <a:pPr algn="ctr"/>
            <a:r>
              <a:rPr sz="850">
                <a:solidFill>
                  <a:srgbClr val="FFFFFF"/>
                </a:solidFill>
                <a:latin typeface="Raleway Medium"/>
              </a:rPr>
              <a:t>Insights y criterios de focalización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986784"/>
            <a:ext cx="765352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0E1D35"/>
                </a:solidFill>
                <a:latin typeface="Open Sans"/>
              </a:rPr>
              <a:t>Calidad: </a:t>
            </a:r>
            <a:r>
              <a:rPr sz="850" b="0">
                <a:solidFill>
                  <a:srgbClr val="4A5366"/>
                </a:solidFill>
                <a:latin typeface="Open Sans"/>
              </a:rPr>
              <a:t>13.047 contratos con inicio anterior a la firma · 177 con pago superior al valor contractual · 144 con saldo pendiente negativo. No se imputaron ni corrigieron: se marcaron con banderas y se excluyeron solo de los indicadores donde podían dar resultados inválidos. </a:t>
            </a:r>
            <a:r>
              <a:rPr sz="850" b="1">
                <a:solidFill>
                  <a:srgbClr val="0E1D35"/>
                </a:solidFill>
                <a:latin typeface="Open Sans"/>
              </a:rPr>
              <a:t>Periodo: </a:t>
            </a:r>
            <a:r>
              <a:rPr sz="850" b="0">
                <a:solidFill>
                  <a:srgbClr val="4A5366"/>
                </a:solidFill>
                <a:latin typeface="Open Sans"/>
              </a:rPr>
              <a:t>se analiza 2019–2025 porque todas las vigencias tienen cobertura completa, reconociendo que pueden tener diferencias en volumen, composición y tiempo disponible para el cierre.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El valor contractual presenta una distribución extremadamente asimétrica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ANÁLISIS UNIVARIADO · VALOR DEL CONTRATO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89888"/>
            <a:ext cx="361188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420624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50" b="0">
                <a:solidFill>
                  <a:srgbClr val="7C8594"/>
                </a:solidFill>
                <a:latin typeface="Open Sans"/>
              </a:rPr>
              <a:t>n = 196.391 contratos · SECOP II, 2019–2025 · eje recortado por IQR para visualizar · eje X en pesos (1e8 = $100M)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1389888"/>
            <a:ext cx="3840480" cy="109728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44475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$33,6M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465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Mediana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1444752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$100M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17465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P75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5681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$800M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P95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195681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~$4.118M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25856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P99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A5366"/>
                </a:solidFill>
                <a:latin typeface="Open Sans"/>
              </a:rPr>
              <a:t>Skewness </a:t>
            </a:r>
            <a:r>
              <a:rPr sz="800" b="1">
                <a:solidFill>
                  <a:srgbClr val="0E1D35"/>
                </a:solidFill>
                <a:latin typeface="Open Sans"/>
              </a:rPr>
              <a:t>443,16</a:t>
            </a:r>
            <a:r>
              <a:rPr sz="800" b="0">
                <a:solidFill>
                  <a:srgbClr val="4A5366"/>
                </a:solidFill>
                <a:latin typeface="Open Sans"/>
              </a:rPr>
              <a:t> (asimetría positiva extrema) · Kurtosis </a:t>
            </a:r>
            <a:r>
              <a:rPr sz="800" b="1">
                <a:solidFill>
                  <a:srgbClr val="0E1D35"/>
                </a:solidFill>
                <a:latin typeface="Open Sans"/>
              </a:rPr>
              <a:t>196.390,95</a:t>
            </a:r>
            <a:r>
              <a:rPr sz="800" b="0">
                <a:solidFill>
                  <a:srgbClr val="4A5366"/>
                </a:solidFill>
                <a:latin typeface="Open Sans"/>
              </a:rPr>
              <a:t> (valores extremos muy marcados) · </a:t>
            </a:r>
            <a:r>
              <a:rPr sz="800" b="1">
                <a:solidFill>
                  <a:srgbClr val="0E1D35"/>
                </a:solidFill>
                <a:latin typeface="Open Sans"/>
              </a:rPr>
              <a:t>14,38%</a:t>
            </a:r>
            <a:r>
              <a:rPr sz="800" b="0">
                <a:solidFill>
                  <a:srgbClr val="4A5366"/>
                </a:solidFill>
                <a:latin typeface="Open Sans"/>
              </a:rPr>
              <a:t> de atípicos por 1,5×IQR · MAD ≈ </a:t>
            </a:r>
            <a:r>
              <a:rPr sz="800" b="1">
                <a:solidFill>
                  <a:srgbClr val="0E1D35"/>
                </a:solidFill>
                <a:latin typeface="Open Sans"/>
              </a:rPr>
              <a:t>$26,8M</a:t>
            </a:r>
            <a:r>
              <a:rPr sz="800" b="0">
                <a:solidFill>
                  <a:srgbClr val="4A5366"/>
                </a:solidFill>
                <a:latin typeface="Open Sans"/>
              </a:rPr>
              <a:t> como medida robusta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154680"/>
            <a:ext cx="3840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0E1D35"/>
                </a:solidFill>
                <a:latin typeface="Open Sans"/>
              </a:rPr>
              <a:t>El skewness tan alto indica una cola derecha muy larga: pocos contratos tienen valores muchísimo mayores que el contrato típico. Por eso, frente a la media (</a:t>
            </a:r>
            <a:r>
              <a:rPr sz="850" b="1">
                <a:solidFill>
                  <a:srgbClr val="0E1D35"/>
                </a:solidFill>
                <a:latin typeface="Open Sans"/>
              </a:rPr>
              <a:t>$65.824M</a:t>
            </a:r>
            <a:r>
              <a:rPr sz="850" b="0">
                <a:solidFill>
                  <a:srgbClr val="0E1D35"/>
                </a:solidFill>
                <a:latin typeface="Open Sans"/>
              </a:rPr>
              <a:t>, muy distorsionada) y la mediana ($33,6M), usamos percentiles, IQR y MAD para describir el contrato típico.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904487"/>
            <a:ext cx="45720" cy="640080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886200"/>
            <a:ext cx="3703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4A5366"/>
                </a:solidFill>
                <a:latin typeface="Open Sans"/>
              </a:rPr>
              <a:t>No se tratan como errores: en contratación pública puede haber contratos legítimamente muy grandes. Se conservaron, y el IQR se usó solo para visualizar la distribución, no para eliminar observaciones. El P95 ($800M) se toma como referencia de alta exposición fiscal: más recursos comprometidos, no necesariamente más desviación.</a:t>
            </a: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8C8C28BE-190C-3134-136B-B14EF6555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40" y="1486721"/>
            <a:ext cx="3343263" cy="2622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La modalidad diferencia perfiles distintos de desviación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ANÁLISIS MULTIVARIADO · MODALIDAD DE CONTRATACIÓN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" y="1371600"/>
          <a:ext cx="4745735" cy="274929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Modalidad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N.º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% adición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Med. % pendiente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% sin liquidar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Licitación Pública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2.330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25,84%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15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12,03%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B9B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43,91%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98A0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Régimen Especial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19.250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6,23%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FD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15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72,14%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364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Régimen Especial (con ofertas)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6.154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18,36%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5C68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15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81,74%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152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Contratación Directa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3.938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7,54%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3C8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100%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1525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65,20%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4E5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Contratación Directa (con ofertas)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5.001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8,96%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B5BB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1,66%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CD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47,76%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8B9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Subasta Inversa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32.907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15,77%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757F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0,16%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FD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44,37%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979F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Menor Cuantía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8.822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14,74%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7E88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49,75%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737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46,15%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9199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Mínima Cuantía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117.753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7,18%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6CB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0,007%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FD4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55,70%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6F7A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Menor Cuantía sin manif. de interés*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236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Open Sans"/>
                        </a:rPr>
                        <a:t>19,92%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4D5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14,81%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B4BA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E1D35"/>
                          </a:solidFill>
                          <a:latin typeface="Open Sans"/>
                        </a:rPr>
                        <a:t>28,06%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CFD4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3232" y="41605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7C8594"/>
                </a:solidFill>
                <a:latin typeface="Open Sans"/>
              </a:rPr>
              <a:t>*Muy pocos contratos: sus porcentajes se interpretan con cautela. Fuente: SECOP II, 2019–2025.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37083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>
                <a:solidFill>
                  <a:srgbClr val="7C8594"/>
                </a:solidFill>
                <a:latin typeface="Open Sans"/>
              </a:rPr>
              <a:t>Intensidad del color = mayor valor dentro de cada columna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50992" y="1417320"/>
            <a:ext cx="64008" cy="64008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97296" y="137160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0E1D35"/>
                </a:solidFill>
                <a:latin typeface="Open Sans"/>
              </a:rPr>
              <a:t>Licitación Pública: </a:t>
            </a:r>
            <a:r>
              <a:rPr sz="750" b="0">
                <a:solidFill>
                  <a:srgbClr val="4A5366"/>
                </a:solidFill>
                <a:latin typeface="Open Sans"/>
              </a:rPr>
              <a:t>25,84% con adición, la más alta, sobre 2.330 contratos — señal de plazo.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0992" y="1819656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97296" y="1773936"/>
            <a:ext cx="2514600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0E1D35"/>
                </a:solidFill>
                <a:latin typeface="Open Sans"/>
              </a:rPr>
              <a:t>Régimen Especial (con ofertas): </a:t>
            </a:r>
            <a:r>
              <a:rPr sz="750" b="0">
                <a:solidFill>
                  <a:srgbClr val="4A5366"/>
                </a:solidFill>
                <a:latin typeface="Open Sans"/>
              </a:rPr>
              <a:t>81,74% de los finalizados sin liquidar, la más alta — señal de cierre.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359151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97296" y="231343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0E1D35"/>
                </a:solidFill>
                <a:latin typeface="Open Sans"/>
              </a:rPr>
              <a:t>Régimen Especial: </a:t>
            </a:r>
            <a:r>
              <a:rPr sz="750" b="0">
                <a:solidFill>
                  <a:srgbClr val="4A5366"/>
                </a:solidFill>
                <a:latin typeface="Open Sans"/>
              </a:rPr>
              <a:t>72,14% sin liquidar y mediana de 100% pendiente.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761487"/>
            <a:ext cx="64008" cy="640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97296" y="2715768"/>
            <a:ext cx="2514600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0E1D35"/>
                </a:solidFill>
                <a:latin typeface="Open Sans"/>
              </a:rPr>
              <a:t>Contratación Directa: </a:t>
            </a:r>
            <a:r>
              <a:rPr sz="750" b="0">
                <a:solidFill>
                  <a:srgbClr val="4A5366"/>
                </a:solidFill>
                <a:latin typeface="Open Sans"/>
              </a:rPr>
              <a:t>mediana de 100% pendiente y 65,20% sin liquidar — señal financiera y de cierre.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0992" y="3300983"/>
            <a:ext cx="64008" cy="64008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97296" y="3255263"/>
            <a:ext cx="2514600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1">
                <a:solidFill>
                  <a:srgbClr val="0E1D35"/>
                </a:solidFill>
                <a:latin typeface="Open Sans"/>
              </a:rPr>
              <a:t>Mínima Cuantía: </a:t>
            </a:r>
            <a:r>
              <a:rPr sz="750" b="0">
                <a:solidFill>
                  <a:srgbClr val="4A5366"/>
                </a:solidFill>
                <a:latin typeface="Open Sans"/>
              </a:rPr>
              <a:t>casi el 60% de todos los contratos (117.753), pero con señales bajas — carga operativa alta por volumen, no foco de riesgo.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4069080"/>
            <a:ext cx="2660904" cy="502920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4078224"/>
            <a:ext cx="246888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FFFFFF"/>
                </a:solidFill>
                <a:latin typeface="Raleway Medium"/>
              </a:rPr>
              <a:t>No hay un único perfil de desviación: el tipo de seguimiento debe cambiar según la modalidad.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676656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900" b="0">
                <a:solidFill>
                  <a:srgbClr val="0E1D35"/>
                </a:solidFill>
                <a:latin typeface="Raleway ExtraBold"/>
              </a:rPr>
              <a:t>Las adiciones son poco frecuentes, tienen una cola extrema y se disparan en 2024–2025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ANÁLISIS TEMPORAL · ADICIONES DE PLAZO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17320"/>
            <a:ext cx="393192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" name="Picture 4" descr="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666108"/>
            <a:ext cx="3785615" cy="21176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3986784"/>
            <a:ext cx="37856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>
                <a:solidFill>
                  <a:srgbClr val="7C8594"/>
                </a:solidFill>
                <a:latin typeface="Open Sans"/>
              </a:rPr>
              <a:t>% de contratos con adición de plazo, por año de firma · SECOP II, 2019–2025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417320"/>
            <a:ext cx="3566160" cy="1143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83480" y="146304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90,49%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7647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sin días adicionados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46304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9,51%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76479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sí adicionó (18.671)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0116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31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3134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mediana, entre los que adicionaron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011680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0E1D35"/>
                </a:solidFill>
                <a:latin typeface="Raleway ExtraBold"/>
              </a:rPr>
              <a:t>15–62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3134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594"/>
                </a:solidFill>
                <a:latin typeface="Open Sans"/>
              </a:rPr>
              <a:t>días, 50% central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70048"/>
            <a:ext cx="3566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Como Q1, mediana y Q3 son cero sobre el total, el IQR no dice nada ahí. Por eso se analiza aparte el subconjunto que sí adicionó: en ese grupo, skewness </a:t>
            </a:r>
            <a:r>
              <a:rPr sz="750" b="1">
                <a:solidFill>
                  <a:srgbClr val="0E1D35"/>
                </a:solidFill>
                <a:latin typeface="Open Sans"/>
              </a:rPr>
              <a:t>222,19</a:t>
            </a:r>
            <a:r>
              <a:rPr sz="750" b="0">
                <a:solidFill>
                  <a:srgbClr val="0E1D35"/>
                </a:solidFill>
                <a:latin typeface="Open Sans"/>
              </a:rPr>
              <a:t> y kurtosis </a:t>
            </a:r>
            <a:r>
              <a:rPr sz="750" b="1">
                <a:solidFill>
                  <a:srgbClr val="0E1D35"/>
                </a:solidFill>
                <a:latin typeface="Open Sans"/>
              </a:rPr>
              <a:t>77.269,88</a:t>
            </a:r>
            <a:r>
              <a:rPr sz="750" b="0">
                <a:solidFill>
                  <a:srgbClr val="0E1D35"/>
                </a:solidFill>
                <a:latin typeface="Open Sans"/>
              </a:rPr>
              <a:t> — distribución concentrada en valores bajos con una cola derecha extrema. El límite superior del IQR es </a:t>
            </a:r>
            <a:r>
              <a:rPr sz="750" b="1">
                <a:solidFill>
                  <a:srgbClr val="0E1D35"/>
                </a:solidFill>
                <a:latin typeface="Open Sans"/>
              </a:rPr>
              <a:t>132,5 días</a:t>
            </a:r>
            <a:r>
              <a:rPr sz="750" b="0">
                <a:solidFill>
                  <a:srgbClr val="0E1D35"/>
                </a:solidFill>
                <a:latin typeface="Open Sans"/>
              </a:rPr>
              <a:t>; </a:t>
            </a:r>
            <a:r>
              <a:rPr sz="750" b="1">
                <a:solidFill>
                  <a:srgbClr val="0E1D35"/>
                </a:solidFill>
                <a:latin typeface="Open Sans"/>
              </a:rPr>
              <a:t>8,43%</a:t>
            </a:r>
            <a:r>
              <a:rPr sz="750" b="0">
                <a:solidFill>
                  <a:srgbClr val="0E1D35"/>
                </a:solidFill>
                <a:latin typeface="Open Sans"/>
              </a:rPr>
              <a:t> de quienes adicionaron lo supera.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593592"/>
            <a:ext cx="45720" cy="38404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83480" y="35661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D35"/>
                </a:solidFill>
                <a:latin typeface="Raleway Medium"/>
              </a:rPr>
              <a:t>Más de 132 días es un caso temporal extremo que amerita revisión, no un error: no se eliminaron porque una prórroga grande puede ser 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69080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4A5366"/>
                </a:solidFill>
                <a:latin typeface="Open Sans"/>
              </a:rPr>
              <a:t>2025 presenta la mayor proporción de adiciones del periodo. El análisis no permite determinar si esto corresponde a un cambio real en la ejecución, a cambios en la composición de los contratos o a la forma de registro.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El sector aporta información relevante y el destino funciona como complemento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ANÁLISIS BIVARIADO · SECTOR Y DESTINO DEL GASTO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89888"/>
            <a:ext cx="237744" cy="23774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Raleway Medium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371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E1D35"/>
                </a:solidFill>
                <a:latin typeface="Raleway Medium"/>
              </a:rPr>
              <a:t>Sector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7720" y="1389888"/>
            <a:ext cx="237744" cy="23774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Raleway Medium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28616" y="1371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0E1D35"/>
                </a:solidFill>
                <a:latin typeface="Raleway Medium"/>
              </a:rPr>
              <a:t>Destino del gasto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719072"/>
            <a:ext cx="37490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37307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50" b="0">
                <a:solidFill>
                  <a:srgbClr val="7C8594"/>
                </a:solidFill>
                <a:latin typeface="Open Sans"/>
              </a:rPr>
              <a:t>Trabajo resaltado · promedio general de adición: 9,51%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719072"/>
            <a:ext cx="3749039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36393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50" b="0">
                <a:solidFill>
                  <a:srgbClr val="7C8594"/>
                </a:solidFill>
                <a:latin typeface="Open Sans"/>
              </a:rPr>
              <a:t>“No aplica” (gris) llega a 97,72%, pero solo tiene 263 contratos: no se usa como criterio.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986784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>
                <a:solidFill>
                  <a:srgbClr val="0E1D35"/>
                </a:solidFill>
                <a:latin typeface="Open Sans"/>
              </a:rPr>
              <a:t>Trabajo: 16,82%</a:t>
            </a:r>
            <a:r>
              <a:rPr sz="700" b="0">
                <a:solidFill>
                  <a:srgbClr val="4A5366"/>
                </a:solidFill>
                <a:latin typeface="Open Sans"/>
              </a:rPr>
              <a:t> con adición sobre 14.759 contratos, casi el doble del promedio general. Información Estadística (16,38%) y Minas y Energía (15,12%) tienen tasas altas pero muy pocos contratos, por eso no se usan como criterio.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986784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>
                <a:solidFill>
                  <a:srgbClr val="0E1D35"/>
                </a:solidFill>
                <a:latin typeface="Open Sans"/>
              </a:rPr>
              <a:t>Inversión: 58,39%</a:t>
            </a:r>
            <a:r>
              <a:rPr sz="750" b="0">
                <a:solidFill>
                  <a:srgbClr val="4A5366"/>
                </a:solidFill>
                <a:latin typeface="Open Sans"/>
              </a:rPr>
              <a:t> sin liquidar vs. </a:t>
            </a:r>
            <a:r>
              <a:rPr sz="750" b="1">
                <a:solidFill>
                  <a:srgbClr val="0E1D35"/>
                </a:solidFill>
                <a:latin typeface="Open Sans"/>
              </a:rPr>
              <a:t>Funcionamiento: 53,20%</a:t>
            </a:r>
            <a:r>
              <a:rPr sz="750" b="0">
                <a:solidFill>
                  <a:srgbClr val="4A5366"/>
                </a:solidFill>
                <a:latin typeface="Open Sans"/>
              </a:rPr>
              <a:t> — diferencia de 5 puntos, mucho menor que los casi 38 puntos entre modalidades.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4507992"/>
            <a:ext cx="7653527" cy="256032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507992"/>
            <a:ext cx="749807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0E1D35"/>
                </a:solidFill>
                <a:latin typeface="Raleway Medium"/>
              </a:rPr>
              <a:t>Sector es relevante cuando combina alta frecuencia con volumen. Destino sirve como criterio complementario o de desempate.</a:t>
            </a: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38CE9C3D-948F-D9EF-ADFF-6C915251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11" y="1783629"/>
            <a:ext cx="3148584" cy="1910547"/>
          </a:xfrm>
          <a:prstGeom prst="rect">
            <a:avLst/>
          </a:prstGeom>
        </p:spPr>
      </p:pic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B208C18F-805E-E06E-283D-FA0741DD6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737360"/>
            <a:ext cx="3089187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Significancia estadística no significa relevancia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PRUEBAS DE HIPÓTESIS · CORRELACIÓN DE SPEARMAN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71600"/>
            <a:ext cx="35204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5" name="Picture 4" descr="spearm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91814"/>
            <a:ext cx="3383280" cy="20375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8862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7C8594"/>
                </a:solidFill>
                <a:latin typeface="Open Sans"/>
              </a:rPr>
              <a:t>Matriz calculada solo sobre contratos finalizados: por eso valor vs. días da 0,057 aquí y 0,186 en la tabla, que usa todos los contratos.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371600"/>
            <a:ext cx="39776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4A5366"/>
                </a:solidFill>
                <a:latin typeface="Open Sans"/>
              </a:rPr>
              <a:t>Nivel de significancia α = 0,05 · H0: no hay asociación · H1: sí hay asociación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34840" y="1645920"/>
          <a:ext cx="3977640" cy="1371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Relación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ρ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p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Raleway Medium"/>
                        </a:rPr>
                        <a:t>Conclusión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0E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Valor vs. días adicionados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0,186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&lt;0,001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B3B5D"/>
                          </a:solidFill>
                          <a:latin typeface="Open Sans"/>
                        </a:rPr>
                        <a:t>Rechaza H0 — asociación débil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Valor vs. % pendiente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0,054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&lt;0,001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B3B5D"/>
                          </a:solidFill>
                          <a:latin typeface="Open Sans"/>
                        </a:rPr>
                        <a:t>Rechaza H0 — asociación muy débil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Días adicionados vs. % pendiente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-0,004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0E1D35"/>
                          </a:solidFill>
                          <a:latin typeface="Open Sans"/>
                        </a:rPr>
                        <a:t>0,243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7C8594"/>
                          </a:solidFill>
                          <a:latin typeface="Open Sans"/>
                        </a:rPr>
                        <a:t>No rechaza H0</a:t>
                      </a:r>
                    </a:p>
                  </a:txBody>
                  <a:tcPr marL="54864" marR="54864" marT="18288" marB="18288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FA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AFAFA"/>
                      </a:solidFill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434840" y="3127248"/>
            <a:ext cx="39776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>
                <a:solidFill>
                  <a:srgbClr val="4A5366"/>
                </a:solidFill>
                <a:latin typeface="Open Sans"/>
              </a:rPr>
              <a:t>Se usó Spearman porque las variables tienen fuerte asimetría, valores extremos, y los scatterplots no muestran relaciones lineales.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611880"/>
            <a:ext cx="3977639" cy="960120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630168"/>
            <a:ext cx="3749039" cy="923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Raleway Medium"/>
              </a:rPr>
              <a:t>Con casi 196 mil contratos casi todo sale significativo (p&lt;0,001), pero las correlaciones siguen siendo débiles: el valor por sí solo explica poco las desviaciones, y plazo y pago no se mueven juntos. La supervisión necesita varios criterios.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La supervisión puede focalizarse desde la firma y escalar durante la ejecución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DE LA EVIDENCIA A LA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81328"/>
            <a:ext cx="3794760" cy="31363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3794760" cy="384048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81328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aleway Medium"/>
              </a:rPr>
              <a:t>Desde la firma — lo que ya se conoce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039112"/>
            <a:ext cx="54864" cy="548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98424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Licitación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más atención a plazos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68296"/>
            <a:ext cx="54864" cy="548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313432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Régimen Especial (con y sin ofertas) y Directa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más atención financiera y de cierre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788920"/>
            <a:ext cx="54864" cy="548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34056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Sector Trabajo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prioridad adicional de seguimiento de plazos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209544"/>
            <a:ext cx="54864" cy="548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154679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Valor ≥ P95 ($800M)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prioridad adicional por exposición fiscal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630168"/>
            <a:ext cx="54864" cy="548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575303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Destino Inversión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criterio complementario o de desempate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4041648"/>
            <a:ext cx="3520440" cy="4572"/>
          </a:xfrm>
          <a:prstGeom prst="rect">
            <a:avLst/>
          </a:prstGeom>
          <a:solidFill>
            <a:srgbClr val="D5D8D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087368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0E1D35"/>
                </a:solidFill>
                <a:latin typeface="Raleway Medium"/>
              </a:rPr>
              <a:t>Entre más de estas características tenga un contrato, más prioridad preventiva.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481328"/>
            <a:ext cx="3794760" cy="31363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0" y="1481328"/>
            <a:ext cx="3794760" cy="38404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1481328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Raleway Medium"/>
              </a:rPr>
              <a:t>Durante la ejecución — señales que suben la prioridad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448" y="2039112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1984248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Adición de más de 132 días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caso temporal extremo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7448" y="2368296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8" y="2313432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Finalizado con 100% pendiente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señal financiera o administrativa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27448" y="2788920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8" y="2734056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Finalizado sin liquidación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señal de cierre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27448" y="3118103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64608" y="3063239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>
                <a:solidFill>
                  <a:srgbClr val="0E1D35"/>
                </a:solidFill>
                <a:latin typeface="Open Sans"/>
              </a:rPr>
              <a:t>Pago mayor al valor contractual o saldo negativo</a:t>
            </a:r>
            <a:r>
              <a:rPr sz="800" b="0">
                <a:solidFill>
                  <a:srgbClr val="4A5366"/>
                </a:solidFill>
                <a:latin typeface="Open Sans"/>
              </a:rPr>
              <a:t> → datos a validar, no necesariamente irregularidades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041648"/>
            <a:ext cx="3520440" cy="4572"/>
          </a:xfrm>
          <a:prstGeom prst="rect">
            <a:avLst/>
          </a:prstGeom>
          <a:solidFill>
            <a:srgbClr val="D5D8D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4087368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4A5366"/>
                </a:solidFill>
                <a:latin typeface="Open Sans"/>
              </a:rPr>
              <a:t>Los pesos y umbrales específicos requieren validación con datos históricos antes de usarse como regla operativa.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676656"/>
            <a:ext cx="7589520" cy="685800"/>
          </a:xfrm>
        </p:spPr>
        <p:txBody>
          <a:bodyPr wrap="square" lIns="0" tIns="0" rIns="0" bIns="0"/>
          <a:lstStyle/>
          <a:p>
            <a:r>
              <a:rPr sz="1900">
                <a:solidFill>
                  <a:srgbClr val="0E1D35"/>
                </a:solidFill>
              </a:rPr>
              <a:t>La evidencia apunta a cuatro criterios de focalización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20">
                <a:solidFill>
                  <a:srgbClr val="7C8594"/>
                </a:solidFill>
                <a:latin typeface="Raleway Medium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35331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spc="100">
                <a:solidFill>
                  <a:srgbClr val="7C8594"/>
                </a:solidFill>
                <a:latin typeface="Raleway Medium"/>
              </a:rPr>
              <a:t>CRITERIO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35331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spc="100">
                <a:solidFill>
                  <a:srgbClr val="7C8594"/>
                </a:solidFill>
                <a:latin typeface="Raleway Medium"/>
              </a:rPr>
              <a:t>QUÉ PAPEL CUMPLE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135331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spc="100">
                <a:solidFill>
                  <a:srgbClr val="7C8594"/>
                </a:solidFill>
                <a:latin typeface="Raleway Medium"/>
              </a:rPr>
              <a:t>EVIDENCIA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627632"/>
            <a:ext cx="7680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627632"/>
            <a:ext cx="512064" cy="512064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Raleway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27632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E1D35"/>
                </a:solidFill>
                <a:latin typeface="Raleway ExtraBold"/>
              </a:rPr>
              <a:t>Modalidad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627632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4A5366"/>
                </a:solidFill>
                <a:latin typeface="Open Sans"/>
              </a:rPr>
              <a:t>Las diferencias más grandes en las tres señales — criterio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22108"/>
            <a:ext cx="14173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2B3B5D"/>
                </a:solidFill>
                <a:latin typeface="Raleway Medium"/>
              </a:rPr>
              <a:t>Diapositiva</a:t>
            </a:r>
            <a:r>
              <a:rPr sz="800" b="0" dirty="0">
                <a:solidFill>
                  <a:srgbClr val="2B3B5D"/>
                </a:solidFill>
                <a:latin typeface="Raleway Medium"/>
              </a:rPr>
              <a:t> </a:t>
            </a:r>
            <a:r>
              <a:rPr lang="es-CO" sz="800" b="0" dirty="0">
                <a:solidFill>
                  <a:srgbClr val="2B3B5D"/>
                </a:solidFill>
                <a:latin typeface="Raleway Medium"/>
              </a:rPr>
              <a:t>5</a:t>
            </a:r>
            <a:endParaRPr sz="800" b="0" dirty="0">
              <a:solidFill>
                <a:srgbClr val="2B3B5D"/>
              </a:solidFill>
              <a:latin typeface="Raleway Medium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13232" y="2212848"/>
            <a:ext cx="7680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" y="2212848"/>
            <a:ext cx="512064" cy="512064"/>
          </a:xfrm>
          <a:prstGeom prst="rect">
            <a:avLst/>
          </a:prstGeom>
          <a:solidFill>
            <a:srgbClr val="15253F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Raleway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12848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E1D35"/>
                </a:solidFill>
                <a:latin typeface="Raleway ExtraBold"/>
              </a:rPr>
              <a:t>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212848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4A5366"/>
                </a:solidFill>
                <a:latin typeface="Open Sans"/>
              </a:rPr>
              <a:t>Algunos sectores combinan tasas altas con volúmenes relevantes — criterio de segmentación de plazos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07324"/>
            <a:ext cx="14173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2B3B5D"/>
                </a:solidFill>
                <a:latin typeface="Raleway Medium"/>
              </a:rPr>
              <a:t>Diapositiva</a:t>
            </a:r>
            <a:r>
              <a:rPr sz="800" b="0" dirty="0">
                <a:solidFill>
                  <a:srgbClr val="2B3B5D"/>
                </a:solidFill>
                <a:latin typeface="Raleway Medium"/>
              </a:rPr>
              <a:t> </a:t>
            </a:r>
            <a:r>
              <a:rPr lang="es-CO" sz="800" b="0" dirty="0">
                <a:solidFill>
                  <a:srgbClr val="2B3B5D"/>
                </a:solidFill>
                <a:latin typeface="Raleway Medium"/>
              </a:rPr>
              <a:t>7</a:t>
            </a:r>
            <a:endParaRPr sz="800" b="0" dirty="0">
              <a:solidFill>
                <a:srgbClr val="2B3B5D"/>
              </a:solidFill>
              <a:latin typeface="Raleway Medium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13232" y="2798064"/>
            <a:ext cx="7680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2798064"/>
            <a:ext cx="512064" cy="5120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Raleway Medium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798064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E1D35"/>
                </a:solidFill>
                <a:latin typeface="Raleway ExtraBold"/>
              </a:rPr>
              <a:t>Valor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4A5366"/>
                </a:solidFill>
                <a:latin typeface="Open Sans"/>
              </a:rPr>
              <a:t>Asociaciones débiles con las desviaciones, pero grandes diferencias en recursos comprometidos — criterio de exposición fiscal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92540"/>
            <a:ext cx="14173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2B3B5D"/>
                </a:solidFill>
                <a:latin typeface="Raleway Medium"/>
              </a:rPr>
              <a:t>Diapositivas</a:t>
            </a:r>
            <a:r>
              <a:rPr sz="800" b="0" dirty="0">
                <a:solidFill>
                  <a:srgbClr val="2B3B5D"/>
                </a:solidFill>
                <a:latin typeface="Raleway Medium"/>
              </a:rPr>
              <a:t> </a:t>
            </a:r>
            <a:r>
              <a:rPr lang="es-CO" sz="800" dirty="0">
                <a:solidFill>
                  <a:srgbClr val="2B3B5D"/>
                </a:solidFill>
                <a:latin typeface="Raleway Medium"/>
              </a:rPr>
              <a:t>4 y 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383280"/>
            <a:ext cx="76809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7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383280"/>
            <a:ext cx="512064" cy="512064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Raleway Medium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383280"/>
            <a:ext cx="14630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0E1D35"/>
                </a:solidFill>
                <a:latin typeface="Raleway ExtraBold"/>
              </a:rPr>
              <a:t>Destino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3383280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4A5366"/>
                </a:solidFill>
                <a:latin typeface="Open Sans"/>
              </a:rPr>
              <a:t>Diferencias moderadas — criterio complementario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577756"/>
            <a:ext cx="141732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dirty="0" err="1">
                <a:solidFill>
                  <a:srgbClr val="2B3B5D"/>
                </a:solidFill>
                <a:latin typeface="Raleway Medium"/>
              </a:rPr>
              <a:t>Diapositiva</a:t>
            </a:r>
            <a:r>
              <a:rPr sz="800" b="0" dirty="0">
                <a:solidFill>
                  <a:srgbClr val="2B3B5D"/>
                </a:solidFill>
                <a:latin typeface="Raleway Medium"/>
              </a:rPr>
              <a:t> </a:t>
            </a:r>
            <a:r>
              <a:rPr lang="es-CO" sz="800" b="0" dirty="0">
                <a:solidFill>
                  <a:srgbClr val="2B3B5D"/>
                </a:solidFill>
                <a:latin typeface="Raleway Medium"/>
              </a:rPr>
              <a:t>7</a:t>
            </a:r>
            <a:endParaRPr sz="800" b="0" dirty="0">
              <a:solidFill>
                <a:srgbClr val="2B3B5D"/>
              </a:solidFill>
              <a:latin typeface="Raleway Medium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" y="402336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0E1D35"/>
                </a:solidFill>
                <a:latin typeface="Raleway Medium"/>
              </a:rPr>
              <a:t>Las desviaciones de plazo, financieras y de cierre son dimensiones diferentes. Por eso la focalización debe combinar varios criterios y no depender de una sola variable.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31089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150">
                <a:solidFill>
                  <a:srgbClr val="7C8594"/>
                </a:solidFill>
                <a:latin typeface="Raleway Medium"/>
              </a:rPr>
              <a:t>RECOMENDACIÓN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530352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0E1D35"/>
                </a:solidFill>
                <a:latin typeface="Raleway ExtraBold"/>
              </a:rPr>
              <a:t>La supervisión no debería concentrarse únicamente en los contratos de mayor valor. </a:t>
            </a:r>
            <a:r>
              <a:rPr sz="1100" b="0">
                <a:solidFill>
                  <a:srgbClr val="2B3B5D"/>
                </a:solidFill>
                <a:latin typeface="Raleway Medium"/>
              </a:rPr>
              <a:t>La evidencia sugiere combinar modalidad, sector, exposición fiscal y destino del gasto, y aumentar la intensidad del seguimiento cuando aparezcan señales relevantes durante la ejecución.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536192"/>
            <a:ext cx="1444752" cy="749808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72768"/>
            <a:ext cx="126187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Raleway Medium"/>
              </a:rPr>
              <a:t>Modalidad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F2F3F5"/>
                </a:solidFill>
                <a:latin typeface="Open Sans"/>
              </a:rPr>
              <a:t>perfiles distintos de seguimiento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3744" y="1536192"/>
            <a:ext cx="1444752" cy="749808"/>
          </a:xfrm>
          <a:prstGeom prst="rect">
            <a:avLst/>
          </a:prstGeom>
          <a:solidFill>
            <a:srgbClr val="15253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15184" y="1572768"/>
            <a:ext cx="126187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Raleway Medium"/>
              </a:rPr>
              <a:t>Sector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F2F3F5"/>
                </a:solidFill>
                <a:latin typeface="Open Sans"/>
              </a:rPr>
              <a:t>suma cuando combina frecuencia y volumen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536192"/>
            <a:ext cx="1444752" cy="749808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3087" y="1572768"/>
            <a:ext cx="126187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Raleway Medium"/>
              </a:rPr>
              <a:t>Valor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F2F3F5"/>
                </a:solidFill>
                <a:latin typeface="Open Sans"/>
              </a:rPr>
              <a:t>mide la exposición fiscal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536192"/>
            <a:ext cx="1444752" cy="749808"/>
          </a:xfrm>
          <a:prstGeom prst="rect">
            <a:avLst/>
          </a:prstGeom>
          <a:solidFill>
            <a:srgbClr val="7C8594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50992" y="1572768"/>
            <a:ext cx="126187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Raleway Medium"/>
              </a:rPr>
              <a:t>Destino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F2F3F5"/>
                </a:solidFill>
                <a:latin typeface="Open Sans"/>
              </a:rPr>
              <a:t>complementa la priorización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77456" y="1536192"/>
            <a:ext cx="1444752" cy="749808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68896" y="1572768"/>
            <a:ext cx="1261872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Raleway Medium"/>
              </a:rPr>
              <a:t>Señales de ejecución</a:t>
            </a:r>
          </a:p>
          <a:p>
            <a:pPr algn="l">
              <a:lnSpc>
                <a:spcPct val="105000"/>
              </a:lnSpc>
            </a:pPr>
            <a:r>
              <a:rPr sz="700" b="0">
                <a:solidFill>
                  <a:srgbClr val="F2F3F5"/>
                </a:solidFill>
                <a:latin typeface="Open Sans"/>
              </a:rPr>
              <a:t>permiten escalar la supervisión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423160"/>
            <a:ext cx="7571231" cy="157276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248716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0E1D35"/>
                </a:solidFill>
                <a:latin typeface="Raleway ExtraBold"/>
              </a:rPr>
              <a:t>Limitaciones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2816352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71016" y="276148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Registros administrativos con posibles errores o rezagos en SECOP.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816352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0055" y="2761488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Las asociaciones encontradas no implican causalidad.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127248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71016" y="3072384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Una señal de desviación no implica irregularidad; no hay variable que la identifique.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3127248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0055" y="3072384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Las vigencias no son del todo comparables: el volumen crece y 2025 no tiene explicación clara.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3438144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71016" y="338328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Con una muestra tan grande, un p-value pequeño puede venir con un efecto muy débil.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3438144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0055" y="3383280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Categorías con pocas observaciones se interpretan con cautela.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3749039"/>
            <a:ext cx="54864" cy="54864"/>
          </a:xfrm>
          <a:prstGeom prst="rect">
            <a:avLst/>
          </a:prstGeom>
          <a:solidFill>
            <a:srgbClr val="2B3B5D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71016" y="3694176"/>
            <a:ext cx="3520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0E1D35"/>
                </a:solidFill>
                <a:latin typeface="Open Sans"/>
              </a:rPr>
              <a:t>Los pesos y umbrales de la propuesta todavía requieren validación.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4114800"/>
            <a:ext cx="45720" cy="438912"/>
          </a:xfrm>
          <a:prstGeom prst="rect">
            <a:avLst/>
          </a:prstGeom>
          <a:solidFill>
            <a:srgbClr val="0E1D35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087368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0E1D35"/>
                </a:solidFill>
                <a:latin typeface="Raleway Medium"/>
              </a:rPr>
              <a:t>El objetivo no es identificar automáticamente contratos irregulares, sino usar la evidencia disponible para asignar de manera más eficiente la capacidad limitada de supervisión.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548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7C8594"/>
                </a:solidFill>
                <a:latin typeface="Open Sans"/>
              </a:rPr>
              <a:t>Fuente: SECOP II, Bienes, 2019–2025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754880"/>
            <a:ext cx="38221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7C8594"/>
                </a:solidFill>
                <a:latin typeface="Open Sans"/>
              </a:rPr>
              <a:t>María Paula Ospina · Camilo Beltrán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ccession Planning Project Proposal by Slidesgo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1779</Words>
  <Application>Microsoft Office PowerPoint</Application>
  <PresentationFormat>Presentación en pantalla (16:9)</PresentationFormat>
  <Paragraphs>225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Open Sans</vt:lpstr>
      <vt:lpstr>Proxima Nova Semibold</vt:lpstr>
      <vt:lpstr>Raleway ExtraBold</vt:lpstr>
      <vt:lpstr>Nunito Light</vt:lpstr>
      <vt:lpstr>Proxima Nova</vt:lpstr>
      <vt:lpstr>PT Sans</vt:lpstr>
      <vt:lpstr>Raleway Medium</vt:lpstr>
      <vt:lpstr>Raleway</vt:lpstr>
      <vt:lpstr>Arial</vt:lpstr>
      <vt:lpstr>Raleway Light</vt:lpstr>
      <vt:lpstr>Succession Planning Project Proposal by Slidesgo</vt:lpstr>
      <vt:lpstr>Slidesgo Final Pages</vt:lpstr>
      <vt:lpstr>Presentación de PowerPoint</vt:lpstr>
      <vt:lpstr>Criterios de focalización para la supervisión contractual</vt:lpstr>
      <vt:lpstr>Las recomendaciones parten de tres señales diferentes de desviación</vt:lpstr>
      <vt:lpstr>El valor contractual presenta una distribución extremadamente asimétrica</vt:lpstr>
      <vt:lpstr>La modalidad diferencia perfiles distintos de desviación</vt:lpstr>
      <vt:lpstr>Presentación de PowerPoint</vt:lpstr>
      <vt:lpstr>El sector aporta información relevante y el destino funciona como complemento</vt:lpstr>
      <vt:lpstr>Significancia estadística no significa relevancia práctica</vt:lpstr>
      <vt:lpstr>La supervisión puede focalizarse desde la firma y escalar durante la ejecución</vt:lpstr>
      <vt:lpstr>La evidencia apunta a cuatro criterios de focalización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Maria Paula Ospina Plazas</cp:lastModifiedBy>
  <cp:revision>4</cp:revision>
  <dcterms:modified xsi:type="dcterms:W3CDTF">2026-09-27T19:25:39Z</dcterms:modified>
</cp:coreProperties>
</file>