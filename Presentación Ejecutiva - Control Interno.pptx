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6c5e06b5-4d0d-4f0b-b269-a38c5ad3e9aa.fntdata" /><ns0:Relationship Id="rIdFont20" Type="http://schemas.openxmlformats.org/officeDocument/2006/relationships/font" Target="fonts/7507d95a-c9c2-4cfb-a764-9d154f9e5ee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68117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794569"/>
            <a:ext cx="342900" cy="381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6811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2225" y="4706242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6300" y="4706242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132707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Criterios de Focalización para la Supervisión Contractual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00437"/>
            <a:ext cx="81915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Modelo de priorización y gestión de riesgos basado en la analítica de 196.391 contratos públicos de bienes (SECOP II 2019–2025).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1723132"/>
            <a:ext cx="6096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A8FF"/>
                </a:solidFill>
                <a:latin typeface="Plus Jakarta Sans"/>
              </a:rPr>
              <a:t>OFICINA DE CONTROL INTERNO • AUDITORÍA ANALÍTICA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06242"/>
            <a:ext cx="1869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Universo Muestral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15792"/>
            <a:ext cx="186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196.391 Contratos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6550" y="4706242"/>
            <a:ext cx="188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Cobertura 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6550" y="4915792"/>
            <a:ext cx="188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2019 – 2025 Plena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625" y="4706242"/>
            <a:ext cx="2083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Enfoque Metodológico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625" y="4915792"/>
            <a:ext cx="20835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Riesgo y Desviación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33500"/>
            <a:ext cx="26479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71850" y="1333500"/>
            <a:ext cx="26479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333500"/>
            <a:ext cx="26479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2550" y="1333500"/>
            <a:ext cx="26479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2590800"/>
            <a:ext cx="4954785" cy="3886200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54885" y="2590800"/>
            <a:ext cx="5865614" cy="3886200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042" y="4662487"/>
            <a:ext cx="523875" cy="428625"/>
          </a:xfrm>
          <a:prstGeom prst="roundRect">
            <a:avLst>
              <a:gd name="adj" fmla="val 8888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5626" y="4376737"/>
            <a:ext cx="523875" cy="714375"/>
          </a:xfrm>
          <a:prstGeom prst="roundRect">
            <a:avLst>
              <a:gd name="adj" fmla="val 7272"/>
            </a:avLst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56210" y="4043362"/>
            <a:ext cx="523875" cy="1047750"/>
          </a:xfrm>
          <a:prstGeom prst="roundRect">
            <a:avLst>
              <a:gd name="adj" fmla="val 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2994" y="3614737"/>
            <a:ext cx="523875" cy="1476375"/>
          </a:xfrm>
          <a:prstGeom prst="roundRect">
            <a:avLst>
              <a:gd name="adj" fmla="val 7272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54910" y="3105150"/>
          <a:ext cx="5465563" cy="1714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30437"/>
                <a:gridCol w="1056977"/>
                <a:gridCol w="1263253"/>
                <a:gridCol w="1314896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Modalidad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Procesos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% Prórroga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Saldo Pend.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Licitación Pública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2.330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25,84%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12,0%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Régimen Especial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19.250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6,23%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100,0%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Subasta Inversa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32.907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15,77%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0,16%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Mínima Cuantía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117.753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7,18%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0,01%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782175" y="800100"/>
            <a:ext cx="2297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SECOP II • Bienes Nacionales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81000"/>
            <a:ext cx="8346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REPORTE EJECUTIVO INSTITUCIONAL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90550"/>
            <a:ext cx="876359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A192F"/>
                </a:solidFill>
                <a:latin typeface="Plus Jakarta Sans"/>
              </a:rPr>
              <a:t>Cuadro de Mando: Métricas de Contratación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1495425"/>
            <a:ext cx="2809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56B3"/>
                </a:solidFill>
                <a:latin typeface="Plus Jakarta Sans"/>
              </a:rPr>
              <a:t>196.391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1847850"/>
            <a:ext cx="280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Contratos Evaluados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028825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Vigencias 2019 a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1875" y="1495425"/>
            <a:ext cx="2809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A192F"/>
                </a:solidFill>
                <a:latin typeface="Plus Jakarta Sans"/>
              </a:rPr>
              <a:t>$33,6M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1875" y="1847850"/>
            <a:ext cx="280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Mediana de Contrato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1875" y="2028825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Valor contractual típico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1495425"/>
            <a:ext cx="2809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97706"/>
                </a:solidFill>
                <a:latin typeface="Plus Jakarta Sans"/>
              </a:rPr>
              <a:t>17,29%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1847850"/>
            <a:ext cx="280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Adición Plazo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028825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Pico máximo histórico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2575" y="1495425"/>
            <a:ext cx="2809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C2626"/>
                </a:solidFill>
                <a:latin typeface="Plus Jakarta Sans"/>
              </a:rPr>
              <a:t>55,31%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2575" y="1847850"/>
            <a:ext cx="2809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Sin Liquidación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2028825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 contratos finalizados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2790825"/>
            <a:ext cx="56934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192F"/>
                </a:solidFill>
                <a:latin typeface="Plus Jakarta Sans"/>
              </a:rPr>
              <a:t>Estructura de Cuantías por Percentiles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6105525"/>
            <a:ext cx="56934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Fuerte asimetría: El 5% superior concentra el presupuesto crítico.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4910" y="2790825"/>
            <a:ext cx="623708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192F"/>
                </a:solidFill>
                <a:latin typeface="Plus Jakarta Sans"/>
              </a:rPr>
              <a:t>Comportamiento por Modalidad de Contratación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530" y="4433887"/>
            <a:ext cx="628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$12M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155" y="5148262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5151" y="4148137"/>
            <a:ext cx="790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$33,6M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6101" y="5148262"/>
            <a:ext cx="828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Mediana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9548" y="3814762"/>
            <a:ext cx="742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$100M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4323" y="5148262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2044" y="3386137"/>
            <a:ext cx="7715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$800M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7269" y="5148262"/>
            <a:ext cx="981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P95 (Foco)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0533"/>
            <a:ext cx="3505200" cy="2196107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40533"/>
            <a:ext cx="3505200" cy="2196107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40533"/>
            <a:ext cx="3505200" cy="2196107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54858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5485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5485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250108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250108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3250108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DIAGNÓSTICO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Cobertura Temporal e Inconsistencias Operativas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88258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Cobertura 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02583"/>
            <a:ext cx="31242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Todos los años cubren del 1 de enero al 31 de diciembre. Sin sesgos de periodo.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688258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Alertas Cronológicas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002583"/>
            <a:ext cx="31242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13.047 contratos con inicio previo a firma y 177 con pagos superiores al valor contractual.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688258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Pico Estacional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02583"/>
            <a:ext cx="31242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Diciembre concentra el mayor volumen anual, pasando de 1.960 en 2019 a 6.666 en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91175"/>
            <a:ext cx="109728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ANÁLISIS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Concentración del Presupuesto y Gran Cuantía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6100" y="2419350"/>
            <a:ext cx="7524750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0056B3"/>
                </a:solidFill>
                <a:latin typeface="Plus Jakarta Sans"/>
              </a:rPr>
              <a:t>$800M COP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1350" y="3562350"/>
            <a:ext cx="7286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92F"/>
                </a:solidFill>
                <a:latin typeface="Plus Jakarta Sans"/>
              </a:rPr>
              <a:t>Umbral del Percentil 95 para Auditoría Exhaustiva al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1156" y="3905250"/>
            <a:ext cx="89296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Fuerte distorsión entre media ($65.824M) y mediana ($33,6M). El 5% de contratos concentra la mayor exposición fiscal.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603" y="5791200"/>
            <a:ext cx="2202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Mediana (Típico)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603" y="5962650"/>
            <a:ext cx="22026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$33.600.000 COP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3546" y="5791200"/>
            <a:ext cx="2369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Percentil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3546" y="5962650"/>
            <a:ext cx="23693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$100.000.000 COP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793" y="5791200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Percentil 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793" y="5962650"/>
            <a:ext cx="2476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$4.118.482.000 COP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1631" y="5791200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Atípicos Superiores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631" y="5962650"/>
            <a:ext cx="190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Plus Jakarta Sans"/>
              </a:rPr>
              <a:t>14,38% del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91225" y="2476500"/>
            <a:ext cx="5591175" cy="2847975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09837"/>
            <a:ext cx="5038725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500437"/>
            <a:ext cx="5038725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91037"/>
            <a:ext cx="5038725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09837"/>
            <a:ext cx="38100" cy="800100"/>
          </a:xfrm>
          <a:prstGeom prst="rect">
            <a:avLst/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500437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491037"/>
            <a:ext cx="38100" cy="800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7450" y="3400425"/>
            <a:ext cx="503872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7450" y="3905250"/>
            <a:ext cx="503872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7450" y="4410075"/>
            <a:ext cx="503872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7450" y="4914900"/>
            <a:ext cx="5038725" cy="13335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7450" y="3400425"/>
            <a:ext cx="1158775" cy="114300"/>
          </a:xfrm>
          <a:prstGeom prst="rect">
            <a:avLst/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7450" y="3905250"/>
            <a:ext cx="2166639" cy="114300"/>
          </a:xfrm>
          <a:prstGeom prst="rect">
            <a:avLst/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7450" y="4410075"/>
            <a:ext cx="2569666" cy="114300"/>
          </a:xfrm>
          <a:prstGeom prst="rect">
            <a:avLst/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7450" y="4914900"/>
            <a:ext cx="5038725" cy="133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RIESGO 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Evolución y Magnitud de las Adiciones de Plazo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7450" y="2752725"/>
            <a:ext cx="5924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A192F"/>
                </a:solidFill>
                <a:latin typeface="Plus Jakarta Sans"/>
              </a:rPr>
              <a:t>% de Contratos con Adición de Plazo por 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62237"/>
            <a:ext cx="60632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Concentración en Cero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938462"/>
            <a:ext cx="5774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90,49% de los contratos no registra adición de días.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652837"/>
            <a:ext cx="60632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Magnitud en Prorrogados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929062"/>
            <a:ext cx="5774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Mediana de 31 días y percentil 75 de 62 días de prórroga.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4643437"/>
            <a:ext cx="60632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Desviaciones Extremas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919662"/>
            <a:ext cx="5774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8,43% supera el límite atípico de 132 días de adición.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3162300"/>
            <a:ext cx="61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6125" y="3162300"/>
            <a:ext cx="685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56B3"/>
                </a:solidFill>
                <a:latin typeface="Plus Jakarta Sans"/>
              </a:rPr>
              <a:t>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7450" y="3667125"/>
            <a:ext cx="61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750" y="3667125"/>
            <a:ext cx="638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56B3"/>
                </a:solidFill>
                <a:latin typeface="Plus Jakarta Sans"/>
              </a:rPr>
              <a:t>7,5%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7450" y="4171950"/>
            <a:ext cx="647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34700" y="4171950"/>
            <a:ext cx="657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56B3"/>
                </a:solidFill>
                <a:latin typeface="Plus Jakarta Sans"/>
              </a:rPr>
              <a:t>8,9%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7450" y="4676775"/>
            <a:ext cx="185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Plus Jakarta Sans"/>
              </a:rPr>
              <a:t>2025 (Pico de Alerta)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1350" y="4676775"/>
            <a:ext cx="790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Plus Jakarta Sans"/>
              </a:rPr>
              <a:t>17,29%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9912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109912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67025"/>
            <a:ext cx="257175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109912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SEGMENTACIÓN OPERATIVA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Riesgo Diferenciado por Modalidad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386137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Riesgo de Plazo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33787"/>
            <a:ext cx="26503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92F"/>
                </a:solidFill>
                <a:latin typeface="Plus Jakarta Sans"/>
              </a:rPr>
              <a:t>Licitación Pública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76687"/>
            <a:ext cx="2114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25,84% de contratos con adición temporal.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386137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Riesgo de 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633787"/>
            <a:ext cx="26503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92F"/>
                </a:solidFill>
                <a:latin typeface="Plus Jakarta Sans"/>
              </a:rPr>
              <a:t>Régimen Especial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3976687"/>
            <a:ext cx="2114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81,74% finalizados sin liquidación formal.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43250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Riesgo Saldo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390900"/>
            <a:ext cx="222027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92F"/>
                </a:solidFill>
                <a:latin typeface="Plus Jakarta Sans"/>
              </a:rPr>
              <a:t>Contratación Directa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000500"/>
            <a:ext cx="21145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100% de mediana en saldo pendiente de pago.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6875" y="3386137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Riesgo Volumen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633787"/>
            <a:ext cx="26503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192F"/>
                </a:solidFill>
                <a:latin typeface="Plus Jakarta Sans"/>
              </a:rPr>
              <a:t>Mínima Cuantía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3976687"/>
            <a:ext cx="2114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59,96% del volumen (alerta fraccionamiento).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10972800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COMPORTAMIENTO PRESUPUESTAL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Distribución Bimodal del Saldo 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32171" y="3143250"/>
            <a:ext cx="12656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Conclusión: Los contratos finalizados con 100% pendiente reflejan rezago en reporte administrativo o retención de recursos.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4494" y="1476375"/>
            <a:ext cx="250031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056B3"/>
                </a:solidFill>
                <a:latin typeface="Plus Jakarta Sans"/>
              </a:rPr>
              <a:t>39,4%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4494" y="2162175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Saldo Cero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4494" y="2381250"/>
            <a:ext cx="2500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Ejecución completa pagada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1413" y="1476375"/>
            <a:ext cx="23336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lus Jakarta Sans"/>
              </a:rPr>
              <a:t>21,6%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1413" y="2162175"/>
            <a:ext cx="2333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Saldo Parcial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413" y="2381250"/>
            <a:ext cx="2333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Pendiente entre 1% y 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739" y="1476375"/>
            <a:ext cx="26193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DC2626"/>
                </a:solidFill>
                <a:latin typeface="Plus Jakarta Sans"/>
              </a:rPr>
              <a:t>39,1%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9739" y="2162175"/>
            <a:ext cx="261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100%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739" y="2381250"/>
            <a:ext cx="2619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Contratos finalizados sin pago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6564" y="2490787"/>
            <a:ext cx="5735835" cy="838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46564" y="3481387"/>
            <a:ext cx="5735835" cy="838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46564" y="4471987"/>
            <a:ext cx="5735835" cy="838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46564" y="2490787"/>
            <a:ext cx="38100" cy="838200"/>
          </a:xfrm>
          <a:prstGeom prst="rect">
            <a:avLst/>
          </a:prstGeom>
          <a:solidFill>
            <a:srgbClr val="00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46564" y="3481387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6564" y="4471987"/>
            <a:ext cx="38100" cy="838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82" y="2971800"/>
            <a:ext cx="1905000" cy="952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GESTIÓN JURÍDICA Y CIERRE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Rezago en la Liquidación de Contratos Finalizados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3644" y="4038600"/>
            <a:ext cx="2464593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056B3"/>
                </a:solidFill>
                <a:latin typeface="Plus Jakarta Sans"/>
              </a:rPr>
              <a:t>55,31%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6982" y="4610100"/>
            <a:ext cx="2381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Sin Liquidación Formal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5164" y="2662237"/>
            <a:ext cx="6116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55.896 Procesos en Limbo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5164" y="2938462"/>
            <a:ext cx="6116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Contratos concluidos físicamente sin cierre de acta.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5164" y="3652837"/>
            <a:ext cx="6116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Concentración de Riesgo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5164" y="3929062"/>
            <a:ext cx="6116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Régimen Especial y Contratación Directa lideran el rezago.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5164" y="4643437"/>
            <a:ext cx="6116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Plan de Saneamiento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5164" y="4919662"/>
            <a:ext cx="6116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Priorizar depuración contable y pólizas vigentes.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3890"/>
            <a:ext cx="5334000" cy="2731293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53890"/>
            <a:ext cx="5334000" cy="2731293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ANÁLISIS DE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Variables de Sector y Destino del Gasto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868215"/>
            <a:ext cx="61757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6B3"/>
                </a:solidFill>
                <a:latin typeface="Plus Jakarta Sans"/>
              </a:rPr>
              <a:t>Sector Económico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06365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Sector Trabajo (Alerta Temprana)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82590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16,82% de adición con volumen representativo (14.759 procesos).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214812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Volumen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491037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Servicio Público y Defensa concentran 71.975 contratos conjuntos.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868215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Destino del Gasto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30636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Inversión vs. Funcionamiento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582590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Inversión registra 58,39% sin liquidar frente al 53,20% en Funcionamiento.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2148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Criterio Complementario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491037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Diferencia moderada (5%); funciona como factor de desempate de riesgo.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32114"/>
            <a:ext cx="10972800" cy="841771"/>
          </a:xfrm>
          <a:prstGeom prst="roundRect">
            <a:avLst>
              <a:gd name="adj" fmla="val 11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27089"/>
          <a:ext cx="10972797" cy="18383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36317"/>
                <a:gridCol w="1764059"/>
                <a:gridCol w="1104453"/>
                <a:gridCol w="1613296"/>
                <a:gridCol w="2854672"/>
              </a:tblGrid>
              <a:tr h="4595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Relación Contrastada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Spearman (ρ)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Valor 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Decisión H0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56B3"/>
                          </a:solidFill>
                          <a:latin typeface="Plus Jakarta Sans"/>
                        </a:rPr>
                        <a:t>Conclusión Práctica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Valor Contrato vs. Días Adición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0,186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&lt; 0,001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Rechaza H0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Asociación débil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Valor Contrato vs. % Pendiente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0,054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&lt; 0,001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Rechaza H0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Sin relevancia práctica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58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Días Adición vs. % Pendiente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-0,004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0,243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 rechaza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Riesgos independientes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VALIDACIÓN EMPÍRICA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Correlaciones y Contrastes de Hipótesis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4713089"/>
            <a:ext cx="1059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Hallazgo clave: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Las prórrogas de tiempo y los saldos pendientes no están correlacionados entre sí. Cada riesgo exige mecanismos de supervisión independientes.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2762"/>
            <a:ext cx="2600325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48000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52762"/>
            <a:ext cx="2600325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52762"/>
            <a:ext cx="2600325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ESTRATEGIA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192F"/>
                </a:solidFill>
                <a:latin typeface="Plus Jakarta Sans"/>
              </a:rPr>
              <a:t>Cuatro Criterios Clave de Focalización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9088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CRITERIO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3853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Modalidad de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52862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Auditar Licitación Pública por tiempo y Régimen Especial por cierre.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286125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CRITERIO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533775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Gran Cuantía P95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848100"/>
            <a:ext cx="22193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Revisión obligatoria al 100% en contratos ≥ $800M COP.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29088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CRITERIO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53853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Adición Extrema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852862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Control sobre prórrogas &gt; 60 días y auditoría en &gt; 132 días.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329088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56B3"/>
                </a:solidFill>
                <a:latin typeface="Plus Jakarta Sans"/>
              </a:rPr>
              <a:t>CRITERIO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3853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Anomalías de Pago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852862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Revisión inmediata de pagos superiores y saldos negativos.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1743075"/>
            <a:ext cx="457200" cy="381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5375" y="3514725"/>
            <a:ext cx="2357437" cy="1019175"/>
          </a:xfrm>
          <a:prstGeom prst="roundRect">
            <a:avLst>
              <a:gd name="adj" fmla="val 7476"/>
            </a:avLst>
          </a:prstGeom>
          <a:solidFill>
            <a:srgbClr val="132F54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43312" y="3514725"/>
            <a:ext cx="2357437" cy="1019175"/>
          </a:xfrm>
          <a:prstGeom prst="roundRect">
            <a:avLst>
              <a:gd name="adj" fmla="val 7476"/>
            </a:avLst>
          </a:prstGeom>
          <a:solidFill>
            <a:srgbClr val="132F54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514725"/>
            <a:ext cx="2357437" cy="1019175"/>
          </a:xfrm>
          <a:prstGeom prst="roundRect">
            <a:avLst>
              <a:gd name="adj" fmla="val 7476"/>
            </a:avLst>
          </a:prstGeom>
          <a:solidFill>
            <a:srgbClr val="132F54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39187" y="3514725"/>
            <a:ext cx="2357437" cy="1019175"/>
          </a:xfrm>
          <a:prstGeom prst="roundRect">
            <a:avLst>
              <a:gd name="adj" fmla="val 7476"/>
            </a:avLst>
          </a:prstGeom>
          <a:solidFill>
            <a:srgbClr val="132F54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7826" y="1971675"/>
            <a:ext cx="10776346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Matriz Operativa de Banderas de Riesgo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695575"/>
            <a:ext cx="952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Regla de decisión inmediata: 2 o más banderas activas clasifican el contrato en Prioridad Alta de Supervisión desde su firma.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8968" y="4914900"/>
            <a:ext cx="583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Oficina de Control Interno • Modelo Analítico Preventivo SECOP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726" y="3714750"/>
            <a:ext cx="2446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A8FF"/>
                </a:solidFill>
                <a:latin typeface="Plus Jakarta Sans"/>
              </a:rPr>
              <a:t>BANDERA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726" y="3971925"/>
            <a:ext cx="244673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Modalidad Crítica (Licitación o Régimen)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8664" y="3714750"/>
            <a:ext cx="2446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A8FF"/>
                </a:solidFill>
                <a:latin typeface="Plus Jakarta Sans"/>
              </a:rPr>
              <a:t>BANDERA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8664" y="3971925"/>
            <a:ext cx="244673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Sector Trabajo (Alta tasa de adición)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6601" y="3714750"/>
            <a:ext cx="2446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A8FF"/>
                </a:solidFill>
                <a:latin typeface="Plus Jakarta Sans"/>
              </a:rPr>
              <a:t>BANDERA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6601" y="3971925"/>
            <a:ext cx="244673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Valor P90 dentro de su modalidad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4539" y="3714750"/>
            <a:ext cx="24467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A8FF"/>
                </a:solidFill>
                <a:latin typeface="Plus Jakarta Sans"/>
              </a:rPr>
              <a:t>BANDERA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4539" y="3971925"/>
            <a:ext cx="244673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Destino de Inversión (Rezago liquidación)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